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2C2423-4E0D-5242-8B19-BDEEA830DC8D}" type="datetimeFigureOut">
              <a:rPr lang="en-US" smtClean="0"/>
              <a:t>3/4/26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80FE6D-F487-784A-A904-BD85BC20F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306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800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FLEXPOINT FORECAST MODEL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Update — Week 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Liam Harvey  &amp;  Ajer Sher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Chicago  |  March 2026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Here's What You Told Us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four requests from the Week 2 call — and what we built for each.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7490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71600"/>
            <a:ext cx="54864" cy="155448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Combination Logic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719072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 lock timing in conjunction with stage and other variables." We built 12 interaction features capturing lock × stage × time-at-stage combinations.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37490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371600"/>
            <a:ext cx="54864" cy="1554480"/>
          </a:xfrm>
          <a:prstGeom prst="rect">
            <a:avLst/>
          </a:prstGeom>
          <a:solidFill>
            <a:srgbClr val="E85A5A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Elimination Rules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719072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"Identify what will NOT fund." We built a 5-rule filter that flags dead loans — historically &lt;0.1% funding rate — and removes them before projection.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3108960"/>
            <a:ext cx="37490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108960"/>
            <a:ext cx="54864" cy="1554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108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Timing Prediction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3456432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"When in the month, not just whether." We built a timing model that predicts funding week. Funding is heavily back-loaded: 38% in Week 4.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3108960"/>
            <a:ext cx="374904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3108960"/>
            <a:ext cx="54864" cy="1554480"/>
          </a:xfrm>
          <a:prstGeom prst="rect">
            <a:avLst/>
          </a:prstGeom>
          <a:solidFill>
            <a:srgbClr val="3DAA7F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3108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Explain the Failures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456432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"Show what unfunded loans have in common." We segmented 9,611 unfunded loans into 8 named failure archetypes with clear patterns.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Combination Logic — Lock × Stage × Time</a:t>
            </a:r>
            <a:endParaRPr lang="en-US" sz="2600" dirty="0"/>
          </a:p>
        </p:txBody>
      </p:sp>
      <p:pic>
        <p:nvPicPr>
          <p:cNvPr id="3" name="Image 0" descr="/mnt/user-data/uploads/v3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4572000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2064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120640" y="137160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12 interaction features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× stage, lock × time-at-stage, velocity, lock extension proxy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earned real importance: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  approved_to_lock_speed (1.4%)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#11  locked_at_early_stage (1.0%)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#14  stages_per_day (0.8%)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maintained at 4.8%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degradation — the tree already finds these splits internally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already captures the combinations you described. The interaction features make this auditable.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Hygiene — Elimination Filter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46%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pipeline is dead weight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383280" y="960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DAA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383280" y="15544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(120 snapshots)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09360" y="960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4.7%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309360" y="15544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with filter applied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5029200" cy="14859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Hist.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Opened Stale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Opened stage, 30+ days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Stale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stage, 30+ days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Submitted Unlocked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Submitted + unlocked, 22+ days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UW Unlocked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Underwriting + unlocked, 22+ days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 Expired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 + expired lock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0" name="Image 0" descr="/mnt/user-data/uploads/v3_elimination_filter_i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011680"/>
            <a:ext cx="3108960" cy="24688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only activates when ≤20 days remain in the month. Loans at CTC or later are never eliminated.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Loans Die — Failure Archetypes</a:t>
            </a:r>
            <a:endParaRPr lang="en-US" sz="2600" dirty="0"/>
          </a:p>
        </p:txBody>
      </p:sp>
      <p:pic>
        <p:nvPicPr>
          <p:cNvPr id="3" name="Image 0" descr="/mnt/user-data/uploads/v3_failure_archetyp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4572000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20640" y="1005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9,611 Unfunded Loans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120640" y="137160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8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44.6%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897880" y="1371600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Dropout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897880" y="1517904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Gone in 4 days, never past Submitted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120640" y="180136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7.6%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97880" y="180136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Pre-Approval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97880" y="1947672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at Submitted/UW 30+ days, unlocked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120640" y="223113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7.6%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97880" y="2231136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at Approved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897880" y="2377440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but never locked, sat 30+ days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120640" y="266090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6.9%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897880" y="2660904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Opened-Only Ghost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897880" y="280720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opened, never hit Application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120640" y="309067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897880" y="3090672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Expired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897880" y="3236976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a rate, expired, never progressed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120640" y="352044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1.5%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897880" y="3520440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Late-Stage Surprise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897880" y="3666744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CTC then failed — rare but painful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of failures never get past Approved. The kill zone is Approved — 27% of all failures die there.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Loans Fund — Timing Model</a:t>
            </a:r>
            <a:endParaRPr lang="en-US" sz="2600" dirty="0"/>
          </a:p>
        </p:txBody>
      </p:sp>
      <p:pic>
        <p:nvPicPr>
          <p:cNvPr id="3" name="Image 0" descr="/mnt/user-data/uploads/v3_weekly_funding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4114800" cy="2926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4880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Is Back-Loaded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754880" y="1463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(Days 1-7)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040880" y="1463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680960" y="1517904"/>
            <a:ext cx="603504" cy="12801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8" name="Text 5"/>
          <p:cNvSpPr/>
          <p:nvPr/>
        </p:nvSpPr>
        <p:spPr>
          <a:xfrm>
            <a:off x="4754880" y="18105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(Days 8-14)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040880" y="1810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80960" y="1865376"/>
            <a:ext cx="713232" cy="12801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8"/>
          <p:cNvSpPr/>
          <p:nvPr/>
        </p:nvSpPr>
        <p:spPr>
          <a:xfrm>
            <a:off x="4754880" y="215798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(Days 15-21)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040880" y="215798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680960" y="2212848"/>
            <a:ext cx="768096" cy="12801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4" name="Text 11"/>
          <p:cNvSpPr/>
          <p:nvPr/>
        </p:nvSpPr>
        <p:spPr>
          <a:xfrm>
            <a:off x="4754880" y="250545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(Days 22-end)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040880" y="25054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680960" y="2560320"/>
            <a:ext cx="1261872" cy="12801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7" name="Text 14"/>
          <p:cNvSpPr/>
          <p:nvPr/>
        </p:nvSpPr>
        <p:spPr>
          <a:xfrm>
            <a:off x="4754880" y="306324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Approach by Snapshot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0: Historical distribution wins (22% weekly MAPE)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8+: GBM regressor takes over (18% → 9.8% MAPE)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blend: historical early, GBM mid-month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40080" y="43434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 of monthly funding lands in the last week. This explains why Day 0 accuracy is 17% — most of the action hasn't happened yet.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Long From Here to Funded?</a:t>
            </a:r>
            <a:endParaRPr lang="en-US" sz="2600" dirty="0"/>
          </a:p>
        </p:txBody>
      </p:sp>
      <p:pic>
        <p:nvPicPr>
          <p:cNvPr id="3" name="Image 0" descr="/mnt/user-data/uploads/v3_stage_to_funding_dur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5029200" cy="3474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77840" y="1005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Reference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577840" y="14630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CTC → Funded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577840" y="16459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days  (p25: 3, p75: 7)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577840" y="19933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→ Funded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577840" y="21762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days  (p25: 18, p75: 33)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577840" y="25237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→ Funded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77840" y="270662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days  (p25: 23, p75: 39)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577840" y="30540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 → Funded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577840" y="32369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days  (p25: 23, p75: 40)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577840" y="3611880"/>
            <a:ext cx="32004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669280" y="3611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is flat year-round. Summer doesn't close faster — it just closes more.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v3 Backtest — 24 Months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4.8%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Mid-Month MAPE (maintained)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383280" y="868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DAA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23/24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383280" y="1463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Within 10%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09360" y="868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4.7%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309360" y="1463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with Elimination Filter</a:t>
            </a:r>
            <a:endParaRPr lang="en-US" sz="1100" dirty="0"/>
          </a:p>
        </p:txBody>
      </p:sp>
      <p:pic>
        <p:nvPicPr>
          <p:cNvPr id="9" name="Image 0" descr="/mnt/user-data/uploads/v3_backtest_projected_vs_ac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965960"/>
            <a:ext cx="5029200" cy="2743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577840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v3 Adds Over v2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577840" y="2331720"/>
            <a:ext cx="3291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core accuracy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4.8% MAPE preserved from v2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hygiene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 dead weight now visible and flagged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timing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week projections (22% MAPE at Day 0)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explanations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named archetypes, auditable patterns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Learned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51560"/>
            <a:ext cx="54864" cy="658368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1197864"/>
            <a:ext cx="365760" cy="365760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197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0972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expiry vs month-end is still king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37160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of model importance. The lock question from Week 2 is settled — it's the dominant signal.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76809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1828800"/>
            <a:ext cx="54864" cy="658368"/>
          </a:xfrm>
          <a:prstGeom prst="rect">
            <a:avLst/>
          </a:prstGeom>
          <a:solidFill>
            <a:srgbClr val="E85A5A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1975104"/>
            <a:ext cx="365760" cy="365760"/>
          </a:xfrm>
          <a:prstGeom prst="ellipse">
            <a:avLst/>
          </a:prstGeom>
          <a:solidFill>
            <a:srgbClr val="E85A5A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1975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18745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 of the pipeline is dead on arrival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63040" y="214884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Stale, unlocked, early-stage loans that historically never fund. Filter makes this visible and auditable.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2606040"/>
            <a:ext cx="76809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2606040"/>
            <a:ext cx="54864" cy="65836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7" name="Shape 15"/>
          <p:cNvSpPr/>
          <p:nvPr/>
        </p:nvSpPr>
        <p:spPr>
          <a:xfrm>
            <a:off x="960120" y="2752344"/>
            <a:ext cx="365760" cy="36576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26517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of failures never get past Approved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63040" y="292608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Approved stage is the kill zone. 27% of all failures die there — often unlocked and sitting for 30+ days.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" y="3383280"/>
            <a:ext cx="76809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3383280"/>
            <a:ext cx="54864" cy="658368"/>
          </a:xfrm>
          <a:prstGeom prst="rect">
            <a:avLst/>
          </a:prstGeom>
          <a:solidFill>
            <a:srgbClr val="3DAA7F"/>
          </a:solidFill>
          <a:ln/>
        </p:spPr>
      </p:sp>
      <p:sp>
        <p:nvSpPr>
          <p:cNvPr id="23" name="Shape 21"/>
          <p:cNvSpPr/>
          <p:nvPr/>
        </p:nvSpPr>
        <p:spPr>
          <a:xfrm>
            <a:off x="960120" y="3529584"/>
            <a:ext cx="365760" cy="365760"/>
          </a:xfrm>
          <a:prstGeom prst="ellipse">
            <a:avLst/>
          </a:prstGeom>
          <a:solidFill>
            <a:srgbClr val="3DAA7F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63040" y="34290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is back-loaded: 38% in Week 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63040" y="370332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month-end push. Use historical distribution at Day 0, switch to GBM at Day 8.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31520" y="4160520"/>
            <a:ext cx="76809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31520" y="4160520"/>
            <a:ext cx="54864" cy="658368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29" name="Shape 27"/>
          <p:cNvSpPr/>
          <p:nvPr/>
        </p:nvSpPr>
        <p:spPr>
          <a:xfrm>
            <a:off x="960120" y="4306824"/>
            <a:ext cx="365760" cy="365760"/>
          </a:xfrm>
          <a:prstGeom prst="ellipse">
            <a:avLst/>
          </a:prstGeom>
          <a:solidFill>
            <a:srgbClr val="1A2332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" y="4306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463040" y="42062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 already finds the combination logic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463040" y="448056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features don't improve MAPE but make the model's internal reasoning visible and auditable.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804672"/>
          </a:xfrm>
          <a:prstGeom prst="rect">
            <a:avLst/>
          </a:prstGeom>
          <a:solidFill>
            <a:srgbClr val="24304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54864" cy="804672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2618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2344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Features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5544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pull-through ~41% vs winter ~36%. Volume +25% higher. Days-to-fund flat. Natural next feature to add to the model.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731520" y="2103120"/>
            <a:ext cx="7680960" cy="804672"/>
          </a:xfrm>
          <a:prstGeom prst="rect">
            <a:avLst/>
          </a:prstGeom>
          <a:solidFill>
            <a:srgbClr val="24304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31520" y="2103120"/>
            <a:ext cx="54864" cy="80467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176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1488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Extension Data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4688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extension history in the current dataset. If FlexPoint can provide lock relock/extension records, it would strengthen the elimination filter and timing model.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31520" y="3017520"/>
            <a:ext cx="7680960" cy="804672"/>
          </a:xfrm>
          <a:prstGeom prst="rect">
            <a:avLst/>
          </a:prstGeom>
          <a:solidFill>
            <a:srgbClr val="243044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017520"/>
            <a:ext cx="54864" cy="804672"/>
          </a:xfrm>
          <a:prstGeom prst="rect">
            <a:avLst/>
          </a:prstGeom>
          <a:solidFill>
            <a:srgbClr val="3DAA7F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0906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A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063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Integration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3832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module matches ThoughtSpot format. 1–2 week effort to connect to production DB and run daily scoring.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31520" y="3931920"/>
            <a:ext cx="7680960" cy="804672"/>
          </a:xfrm>
          <a:prstGeom prst="rect">
            <a:avLst/>
          </a:prstGeom>
          <a:solidFill>
            <a:srgbClr val="24304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731520" y="3931920"/>
            <a:ext cx="54864" cy="80467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0050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39776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Cadence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4297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 → directional read (17% error). Day 8 → operational forecast (7.5%). Day 15 → precise (4.8%). Recommend weekly report starting Day 8.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Liam Harvey &amp; Ajer Sher  |  University of Chicago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FlexPoint Forecast Model — v3 Update</dc:title>
  <dc:subject>PptxGenJS Presentation</dc:subject>
  <dc:creator>Liam Harvey &amp; Ajer Sher</dc:creator>
  <cp:lastModifiedBy>Liam Harvey</cp:lastModifiedBy>
  <cp:revision>3</cp:revision>
  <dcterms:created xsi:type="dcterms:W3CDTF">2026-03-03T15:32:10Z</dcterms:created>
  <dcterms:modified xsi:type="dcterms:W3CDTF">2026-03-04T19:36:32Z</dcterms:modified>
</cp:coreProperties>
</file>