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0232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AJER PRESENTS (~15 sec)
"Thanks everyone for joining. Today we're presenting v2 of the funding forecast model."
"Quick agenda: we'll show how we incorporated Augie's feedback from last week, the new results across 24 months of backtesting, and then we have some open questions for discussion."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PRESENTS (~45 sec)
"From our last call, Augie laid out four priorities. We executed all four."
Walk through each card briefly. Emphasize card #3: 'Each month is now projected from the last day of the prior month — Dec from Nov 30, Nov from Oct 31 — using the most current pipeline available. No stale data. This is the consistent framework you asked for.'
Don't linger — this is setup, not content.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AJER PRESENTS (~90 sec)
"Augie, you were right. Adding product and purpose shifts funding probabilities by up to 12 percentage points."
Point to Approved stage: baseline 52%, NONCONF/Purchase 60%, FHA/Purchase 64%, Refi CashOut 47%.
"At Submitted, NONCONFORMING loans are almost double baseline — 39% vs 21%."
"Product and purpose now appear as their own features. Their standalone importance is modest because the signal was already in the stage probability — but they're visible and auditable now, which is what you asked for."
If asked 'How did you calculate these?': 'Stratified transition tables from all 15,272 loans. For each stage × product × purpose combination, we computed the historical funding rate. Where cell sizes were under 20 loans, we smoothed back to stage-only.'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PRESENTS (~90 sec)
"This is where it gets nuanced. Lock coverage goes from ~0% at early stages to 100% past Condition Review."
"The Approved stage at 33% is the key differentiation zone — it splits loans that are actively progressing from ones that are stalling. That's real, independent information."
"99.3% of funded loans have a lock. Only 0.6% of unlocked loans fund. So lock is almost a perfect proxy — powerful but potentially circular."
"Lock features improved our accuracy from 6.5% to 4.8%, but 68% of the model's weight lands on lock timing. We'll come back to what this means on the decision slide."
If Augie asks about his Loan A vs Loan B example: 'That's exactly what the model learned. Lock expiry vs month-end is the #1 feature — a loan whose lock is about to expire is under pressure to close, which is exactly the signal you described.'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AJER PRESENTS (~60 sec)
"Here's what the model relies on, ranked by importance."
"Lock expiry vs month-end dominates at 68% — this is exactly the signal Augie described with his Loan A vs Loan B example on the Excel blackboard. A loan whose lock expires before month-end is under pressure to close."
"Pipeline stage probability dropped from 59.5% in v1 to just 5.7% in v2 — because lock absorbed that signal."
"Days at current stage is #2 at 7.1%. Credit score, loan amount trail at 2-3% each."
If asked about product/purpose not ranking high: 'Same story as v1 — their signal is upstream in the stage probability. They matter, they're just embedded.'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PRESENTS (~90 sec)
"This is the proof. We backtested across 24 months — January 2024 through December 2025."
Point to KPIs: 4.8% MAPE at mid-month, 23/24 months within 10% target, 25% reduction vs v1.
"The orange dashed line is v2, black is actual. You can see it tracks tighter than v1, especially in the second half of 2025 where volumes ramped up."
"Two months still over 10%: November at +12.7% with rolling. We'll dig into that next."
Numbers to have ready:
Day 1 MAPE: 15.8% (v2) vs 15.7% (v1)
Day 8 MAPE: 7.3% (v2) vs 9.7% (v1)
Day 15 MAPE: 4.8% (v2) vs 6.4% (v1)
Day 22 MAPE: 4.0% (v2) vs 5.3% (v1)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AJER PRESENTS (~60 sec)
"These were our two worst months in v1. The rolling window cut November's error in half and brought December inside the 10% target."
"The key insight: the rolling window trains on the most recent 12 months, so when predicting December 2025, it's seen the higher volumes from mid-2025. The fixed window was still calibrated to 2024 levels."
"This improvement is completely independent of the lock question — it's a clean win we recommend regardless."
If asked about the rolling window: 'Instead of always training on 2024 data, we tested training on the most recent 12 months. So when predicting December 2025, the model trains on Dec 2024 through Nov 2025.'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PRESENTS (~60 sec)
"This is the new slide. Day 0 is the test you asked for — projecting an entire month from the last day of the prior month. Nothing has funded yet, it's all forward-looking."
"Day 0 gives you a directional read — 17% error. By Day 8 you're under 10%. By mid-month you're at 4.8%."
"Each month is projected from its prior month-end — Dec from Nov 30, Nov from Oct 31 — using the most current pipeline. This is the consistent framework you described on the call."
If asked 'why is Day 0 rolling worse than fixed?': 'The rolling window is optimized for mid-month accuracy. At Day 0, the fixed window's more conservative probabilities happen to overshoot less, but by Day 8 the rolling window catches up and wins from there.'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AJER PRESENTS, LIAM FRAMES THE QUESTION (~2 min)
Ajer: 'We want to present two options and let you decide.'
Walk through Version A (clean, conservative) and Version B (better accuracy, lock question).
Liam frames the question: 'The lock features improved accuracy a lot, but we found they're mostly capturing how far along a loan is — which we already know from the stage. The main place they add genuinely new information is at the Approved stage, where about 33% of loans are locked and 67% aren't.'
'We wanted your input: is rate lock an independent signal in the business — does locking cause a loan to get priority processing? Or does a loan just get locked along the way because it's already progressing?'
If he says use it: 'Great — we'll move forward with Version B. We'll flag the lock dependency in documentation.'
If he says don't use it: 'Understood — Version A is clean and still a meaningful improvement over v1 with the rolling window.'
If he's unsure: 'No rush on this — we can deploy Version A now and test Version B in parallel.'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PRESENTS (~60 sec + discussion)
"Four things going forward."
1. Lock decision: 'Your call. We're comfortable with either version.'
2. Seasonality: 'You flagged this last week — summer months are more competitive. We ran the numbers: pull-through is about 5 points higher in summer, volume is 25% higher. But days-to-fund is remarkably flat year-round — the speed doesn't change, it's the conversion rate and volume that fluctuate. This is a natural next feature.'
3. Error chart: 'We have the full month-by-month error breakdown if you want to see it — it's in the appendix.'
4. Integration: 'The scorer module produces the same format as ThoughtSpot today. Connecting it to the production DB is a 1-2 week effort.'
If asked 'when can this go live': 'The model is code-complete. Integration is 1-2 weeks depending on DB access.'
If asked 'can you predict further out': 'Same architecture, just extend the time horizon. We'd build transition tables for 30-60 day windows.'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F172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5F6F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20" y="1097280"/>
            <a:ext cx="7680960" cy="731520"/>
          </a:xfrm>
          <a:prstGeom prst="rect">
            <a:avLst/>
          </a:prstGeom>
          <a:noFill/>
          <a:ln/>
        </p:spPr>
        <p:txBody>
          <a:bodyPr wrap="square" rtlCol="0" anchor="ctr"/>
          <a:lstStyle/>
          <a:p>
            <a:pPr marL="0" indent="0">
              <a:buNone/>
            </a:pPr>
            <a:r>
              <a:rPr lang="en-US" sz="3800" b="1" kern="0" spc="200" dirty="0">
                <a:solidFill>
                  <a:srgbClr val="FFFFFF"/>
                </a:solidFill>
                <a:latin typeface="Georgia" pitchFamily="34" charset="0"/>
                <a:ea typeface="Georgia" pitchFamily="34" charset="-122"/>
                <a:cs typeface="Georgia" pitchFamily="34" charset="-120"/>
              </a:rPr>
              <a:t>FLEXPOINT FORECAST MODEL</a:t>
            </a:r>
            <a:endParaRPr lang="en-US" sz="3800" dirty="0"/>
          </a:p>
        </p:txBody>
      </p:sp>
      <p:sp>
        <p:nvSpPr>
          <p:cNvPr id="3" name="Text 1"/>
          <p:cNvSpPr/>
          <p:nvPr/>
        </p:nvSpPr>
        <p:spPr>
          <a:xfrm>
            <a:off x="731520" y="1828800"/>
            <a:ext cx="7680960" cy="548640"/>
          </a:xfrm>
          <a:prstGeom prst="rect">
            <a:avLst/>
          </a:prstGeom>
          <a:noFill/>
          <a:ln/>
        </p:spPr>
        <p:txBody>
          <a:bodyPr wrap="square" rtlCol="0" anchor="ctr"/>
          <a:lstStyle/>
          <a:p>
            <a:pPr marL="0" indent="0">
              <a:buNone/>
            </a:pPr>
            <a:r>
              <a:rPr lang="en-US" sz="2800" i="1" dirty="0">
                <a:solidFill>
                  <a:srgbClr val="E8913A"/>
                </a:solidFill>
                <a:latin typeface="Georgia" pitchFamily="34" charset="0"/>
                <a:ea typeface="Georgia" pitchFamily="34" charset="-122"/>
                <a:cs typeface="Georgia" pitchFamily="34" charset="-120"/>
              </a:rPr>
              <a:t>v2 Update</a:t>
            </a:r>
            <a:endParaRPr lang="en-US" sz="2800" dirty="0"/>
          </a:p>
        </p:txBody>
      </p:sp>
      <p:sp>
        <p:nvSpPr>
          <p:cNvPr id="4" name="Shape 2"/>
          <p:cNvSpPr/>
          <p:nvPr/>
        </p:nvSpPr>
        <p:spPr>
          <a:xfrm>
            <a:off x="731520" y="2606040"/>
            <a:ext cx="1371600" cy="36576"/>
          </a:xfrm>
          <a:prstGeom prst="rect">
            <a:avLst/>
          </a:prstGeom>
          <a:solidFill>
            <a:srgbClr val="E8913A"/>
          </a:solidFill>
          <a:ln/>
        </p:spPr>
        <p:txBody>
          <a:bodyPr/>
          <a:lstStyle/>
          <a:p>
            <a:endParaRPr lang="en-US"/>
          </a:p>
        </p:txBody>
      </p:sp>
      <p:sp>
        <p:nvSpPr>
          <p:cNvPr id="5" name="Text 3"/>
          <p:cNvSpPr/>
          <p:nvPr/>
        </p:nvSpPr>
        <p:spPr>
          <a:xfrm>
            <a:off x="731520" y="2834640"/>
            <a:ext cx="7680960" cy="365760"/>
          </a:xfrm>
          <a:prstGeom prst="rect">
            <a:avLst/>
          </a:prstGeom>
          <a:noFill/>
          <a:ln/>
        </p:spPr>
        <p:txBody>
          <a:bodyPr wrap="square" rtlCol="0" anchor="ctr"/>
          <a:lstStyle/>
          <a:p>
            <a:pPr marL="0" indent="0">
              <a:buNone/>
            </a:pPr>
            <a:r>
              <a:rPr lang="en-US" sz="1500" dirty="0">
                <a:solidFill>
                  <a:schemeClr val="bg1"/>
                </a:solidFill>
                <a:latin typeface="Calibri" pitchFamily="34" charset="0"/>
                <a:ea typeface="Calibri" pitchFamily="34" charset="-122"/>
                <a:cs typeface="Calibri" pitchFamily="34" charset="-120"/>
              </a:rPr>
              <a:t>Liam Harvey  &amp;  Ajer Sher</a:t>
            </a:r>
            <a:endParaRPr lang="en-US" sz="1500" dirty="0">
              <a:solidFill>
                <a:schemeClr val="bg1"/>
              </a:solidFill>
            </a:endParaRPr>
          </a:p>
        </p:txBody>
      </p:sp>
      <p:sp>
        <p:nvSpPr>
          <p:cNvPr id="6" name="Text 4"/>
          <p:cNvSpPr/>
          <p:nvPr/>
        </p:nvSpPr>
        <p:spPr>
          <a:xfrm>
            <a:off x="731520" y="3200400"/>
            <a:ext cx="7680960" cy="365760"/>
          </a:xfrm>
          <a:prstGeom prst="rect">
            <a:avLst/>
          </a:prstGeom>
          <a:noFill/>
          <a:ln/>
        </p:spPr>
        <p:txBody>
          <a:bodyPr wrap="square" rtlCol="0" anchor="ctr"/>
          <a:lstStyle/>
          <a:p>
            <a:pPr marL="0" indent="0">
              <a:buNone/>
            </a:pPr>
            <a:r>
              <a:rPr lang="en-US" sz="1300" dirty="0">
                <a:solidFill>
                  <a:schemeClr val="bg1"/>
                </a:solidFill>
                <a:latin typeface="Calibri" pitchFamily="34" charset="0"/>
                <a:ea typeface="Calibri" pitchFamily="34" charset="-122"/>
                <a:cs typeface="Calibri" pitchFamily="34" charset="-120"/>
              </a:rPr>
              <a:t>Gallus Insights  |  February 25, 2026</a:t>
            </a:r>
            <a:endParaRPr lang="en-US" sz="1300" dirty="0">
              <a:solidFill>
                <a:schemeClr val="bg1"/>
              </a:solidFill>
            </a:endParaRPr>
          </a:p>
        </p:txBody>
      </p:sp>
      <p:sp>
        <p:nvSpPr>
          <p:cNvPr id="7" name="Text 5"/>
          <p:cNvSpPr/>
          <p:nvPr/>
        </p:nvSpPr>
        <p:spPr>
          <a:xfrm>
            <a:off x="457200" y="4754880"/>
            <a:ext cx="8229600" cy="320040"/>
          </a:xfrm>
          <a:prstGeom prst="rect">
            <a:avLst/>
          </a:prstGeom>
          <a:noFill/>
          <a:ln/>
        </p:spPr>
        <p:txBody>
          <a:bodyPr wrap="square" rtlCol="0" anchor="ctr"/>
          <a:lstStyle/>
          <a:p>
            <a:pPr marL="0" indent="0">
              <a:buNone/>
            </a:pPr>
            <a:r>
              <a:rPr lang="en-US" sz="1000" dirty="0">
                <a:solidFill>
                  <a:schemeClr val="bg1"/>
                </a:solidFill>
                <a:latin typeface="Calibri" pitchFamily="34" charset="0"/>
                <a:ea typeface="Calibri" pitchFamily="34" charset="-122"/>
                <a:cs typeface="Calibri" pitchFamily="34" charset="-120"/>
              </a:rPr>
              <a:t>Prepared for Augie, Mariana &amp; Israel  —  FlexPoint</a:t>
            </a:r>
            <a:endParaRPr lang="en-US" sz="1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rtlCol="0" anchor="ctr"/>
          <a:lstStyle/>
          <a:p>
            <a:pPr marL="0" indent="0">
              <a:buNone/>
            </a:pPr>
            <a:r>
              <a:rPr lang="en-US" sz="2600" b="1" dirty="0">
                <a:solidFill>
                  <a:srgbClr val="1A2332"/>
                </a:solidFill>
                <a:latin typeface="Georgia" pitchFamily="34" charset="0"/>
                <a:ea typeface="Georgia" pitchFamily="34" charset="-122"/>
                <a:cs typeface="Georgia" pitchFamily="34" charset="-120"/>
              </a:rPr>
              <a:t>What We Changed — Your Four Requests</a:t>
            </a:r>
            <a:endParaRPr lang="en-US" sz="2600" dirty="0"/>
          </a:p>
        </p:txBody>
      </p:sp>
      <p:sp>
        <p:nvSpPr>
          <p:cNvPr id="3" name="Shape 1"/>
          <p:cNvSpPr/>
          <p:nvPr/>
        </p:nvSpPr>
        <p:spPr>
          <a:xfrm>
            <a:off x="548640" y="1051560"/>
            <a:ext cx="3840480" cy="1600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4" name="Shape 2"/>
          <p:cNvSpPr/>
          <p:nvPr/>
        </p:nvSpPr>
        <p:spPr>
          <a:xfrm>
            <a:off x="548640" y="1051560"/>
            <a:ext cx="64008" cy="1600200"/>
          </a:xfrm>
          <a:prstGeom prst="rect">
            <a:avLst/>
          </a:prstGeom>
          <a:solidFill>
            <a:srgbClr val="4A90D9"/>
          </a:solidFill>
          <a:ln/>
        </p:spPr>
        <p:txBody>
          <a:bodyPr/>
          <a:lstStyle/>
          <a:p>
            <a:endParaRPr lang="en-US"/>
          </a:p>
        </p:txBody>
      </p:sp>
      <p:sp>
        <p:nvSpPr>
          <p:cNvPr id="5" name="Shape 3"/>
          <p:cNvSpPr/>
          <p:nvPr/>
        </p:nvSpPr>
        <p:spPr>
          <a:xfrm>
            <a:off x="777240" y="1234440"/>
            <a:ext cx="365760" cy="365760"/>
          </a:xfrm>
          <a:prstGeom prst="ellipse">
            <a:avLst/>
          </a:prstGeom>
          <a:solidFill>
            <a:srgbClr val="4A90D9"/>
          </a:solidFill>
          <a:ln/>
        </p:spPr>
        <p:txBody>
          <a:bodyPr/>
          <a:lstStyle/>
          <a:p>
            <a:endParaRPr lang="en-US"/>
          </a:p>
        </p:txBody>
      </p:sp>
      <p:sp>
        <p:nvSpPr>
          <p:cNvPr id="6" name="Text 4"/>
          <p:cNvSpPr/>
          <p:nvPr/>
        </p:nvSpPr>
        <p:spPr>
          <a:xfrm>
            <a:off x="777240" y="123444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280160" y="1188720"/>
            <a:ext cx="2834640" cy="411480"/>
          </a:xfrm>
          <a:prstGeom prst="rect">
            <a:avLst/>
          </a:prstGeom>
          <a:noFill/>
          <a:ln/>
        </p:spPr>
        <p:txBody>
          <a:bodyPr wrap="square" rtlCol="0" anchor="ctr"/>
          <a:lstStyle/>
          <a:p>
            <a:pPr marL="0" indent="0">
              <a:buNone/>
            </a:pPr>
            <a:r>
              <a:rPr lang="en-US" sz="1500" b="1" dirty="0">
                <a:solidFill>
                  <a:srgbClr val="1A2332"/>
                </a:solidFill>
                <a:latin typeface="Calibri" pitchFamily="34" charset="0"/>
                <a:ea typeface="Calibri" pitchFamily="34" charset="-122"/>
                <a:cs typeface="Calibri" pitchFamily="34" charset="-120"/>
              </a:rPr>
              <a:t>Separated Product &amp; Purpose</a:t>
            </a:r>
            <a:endParaRPr lang="en-US" sz="1500" dirty="0"/>
          </a:p>
        </p:txBody>
      </p:sp>
      <p:sp>
        <p:nvSpPr>
          <p:cNvPr id="8" name="Text 6"/>
          <p:cNvSpPr/>
          <p:nvPr/>
        </p:nvSpPr>
        <p:spPr>
          <a:xfrm>
            <a:off x="777240" y="1691640"/>
            <a:ext cx="3383280" cy="822960"/>
          </a:xfrm>
          <a:prstGeom prst="rect">
            <a:avLst/>
          </a:prstGeom>
          <a:noFill/>
          <a:ln/>
        </p:spPr>
        <p:txBody>
          <a:bodyPr wrap="square" rtlCol="0" anchor="t"/>
          <a:lstStyle/>
          <a:p>
            <a:pPr marL="0" indent="0">
              <a:buNone/>
            </a:pPr>
            <a:r>
              <a:rPr lang="en-US" sz="1150" dirty="0">
                <a:solidFill>
                  <a:srgbClr val="3A4555"/>
                </a:solidFill>
                <a:latin typeface="Calibri" pitchFamily="34" charset="0"/>
                <a:ea typeface="Calibri" pitchFamily="34" charset="-122"/>
                <a:cs typeface="Calibri" pitchFamily="34" charset="-120"/>
              </a:rPr>
              <a:t>Now independent features — no longer hidden inside the stage probability. Each variable's contribution is visible on its own.</a:t>
            </a:r>
            <a:endParaRPr lang="en-US" sz="1150" dirty="0"/>
          </a:p>
        </p:txBody>
      </p:sp>
      <p:sp>
        <p:nvSpPr>
          <p:cNvPr id="9" name="Shape 7"/>
          <p:cNvSpPr/>
          <p:nvPr/>
        </p:nvSpPr>
        <p:spPr>
          <a:xfrm>
            <a:off x="4663440" y="1051560"/>
            <a:ext cx="3840480" cy="1600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663440" y="1051560"/>
            <a:ext cx="64008" cy="1600200"/>
          </a:xfrm>
          <a:prstGeom prst="rect">
            <a:avLst/>
          </a:prstGeom>
          <a:solidFill>
            <a:srgbClr val="E8913A"/>
          </a:solidFill>
          <a:ln/>
        </p:spPr>
        <p:txBody>
          <a:bodyPr/>
          <a:lstStyle/>
          <a:p>
            <a:endParaRPr lang="en-US"/>
          </a:p>
        </p:txBody>
      </p:sp>
      <p:sp>
        <p:nvSpPr>
          <p:cNvPr id="11" name="Shape 9"/>
          <p:cNvSpPr/>
          <p:nvPr/>
        </p:nvSpPr>
        <p:spPr>
          <a:xfrm>
            <a:off x="4892040" y="1234440"/>
            <a:ext cx="365760" cy="365760"/>
          </a:xfrm>
          <a:prstGeom prst="ellipse">
            <a:avLst/>
          </a:prstGeom>
          <a:solidFill>
            <a:srgbClr val="E8913A"/>
          </a:solidFill>
          <a:ln/>
        </p:spPr>
        <p:txBody>
          <a:bodyPr/>
          <a:lstStyle/>
          <a:p>
            <a:endParaRPr lang="en-US"/>
          </a:p>
        </p:txBody>
      </p:sp>
      <p:sp>
        <p:nvSpPr>
          <p:cNvPr id="12" name="Text 10"/>
          <p:cNvSpPr/>
          <p:nvPr/>
        </p:nvSpPr>
        <p:spPr>
          <a:xfrm>
            <a:off x="4892040" y="123444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5394960" y="1188720"/>
            <a:ext cx="2834640" cy="411480"/>
          </a:xfrm>
          <a:prstGeom prst="rect">
            <a:avLst/>
          </a:prstGeom>
          <a:noFill/>
          <a:ln/>
        </p:spPr>
        <p:txBody>
          <a:bodyPr wrap="square" rtlCol="0" anchor="ctr"/>
          <a:lstStyle/>
          <a:p>
            <a:pPr marL="0" indent="0">
              <a:buNone/>
            </a:pPr>
            <a:r>
              <a:rPr lang="en-US" sz="1500" b="1" dirty="0">
                <a:solidFill>
                  <a:srgbClr val="1A2332"/>
                </a:solidFill>
                <a:latin typeface="Calibri" pitchFamily="34" charset="0"/>
                <a:ea typeface="Calibri" pitchFamily="34" charset="-122"/>
                <a:cs typeface="Calibri" pitchFamily="34" charset="-120"/>
              </a:rPr>
              <a:t>Added Rate Lock Features</a:t>
            </a:r>
            <a:endParaRPr lang="en-US" sz="1500" dirty="0"/>
          </a:p>
        </p:txBody>
      </p:sp>
      <p:sp>
        <p:nvSpPr>
          <p:cNvPr id="14" name="Text 12"/>
          <p:cNvSpPr/>
          <p:nvPr/>
        </p:nvSpPr>
        <p:spPr>
          <a:xfrm>
            <a:off x="4892040" y="1691640"/>
            <a:ext cx="3383280" cy="822960"/>
          </a:xfrm>
          <a:prstGeom prst="rect">
            <a:avLst/>
          </a:prstGeom>
          <a:noFill/>
          <a:ln/>
        </p:spPr>
        <p:txBody>
          <a:bodyPr wrap="square" rtlCol="0" anchor="t"/>
          <a:lstStyle/>
          <a:p>
            <a:pPr marL="0" indent="0">
              <a:buNone/>
            </a:pPr>
            <a:r>
              <a:rPr lang="en-US" sz="1150" dirty="0">
                <a:solidFill>
                  <a:srgbClr val="3A4555"/>
                </a:solidFill>
                <a:latin typeface="Calibri" pitchFamily="34" charset="0"/>
                <a:ea typeface="Calibri" pitchFamily="34" charset="-122"/>
                <a:cs typeface="Calibri" pitchFamily="34" charset="-120"/>
              </a:rPr>
              <a:t>5 new features: lock status, days until expiry, whether expired, days since lock, lock expiry vs month-end.</a:t>
            </a:r>
            <a:endParaRPr lang="en-US" sz="1150" dirty="0"/>
          </a:p>
        </p:txBody>
      </p:sp>
      <p:sp>
        <p:nvSpPr>
          <p:cNvPr id="15" name="Shape 13"/>
          <p:cNvSpPr/>
          <p:nvPr/>
        </p:nvSpPr>
        <p:spPr>
          <a:xfrm>
            <a:off x="548640" y="2880360"/>
            <a:ext cx="3840480" cy="1600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6" name="Shape 14"/>
          <p:cNvSpPr/>
          <p:nvPr/>
        </p:nvSpPr>
        <p:spPr>
          <a:xfrm>
            <a:off x="548640" y="2880360"/>
            <a:ext cx="64008" cy="1600200"/>
          </a:xfrm>
          <a:prstGeom prst="rect">
            <a:avLst/>
          </a:prstGeom>
          <a:solidFill>
            <a:srgbClr val="3DAA7F"/>
          </a:solidFill>
          <a:ln/>
        </p:spPr>
        <p:txBody>
          <a:bodyPr/>
          <a:lstStyle/>
          <a:p>
            <a:endParaRPr lang="en-US"/>
          </a:p>
        </p:txBody>
      </p:sp>
      <p:sp>
        <p:nvSpPr>
          <p:cNvPr id="17" name="Shape 15"/>
          <p:cNvSpPr/>
          <p:nvPr/>
        </p:nvSpPr>
        <p:spPr>
          <a:xfrm>
            <a:off x="777240" y="3063240"/>
            <a:ext cx="365760" cy="365760"/>
          </a:xfrm>
          <a:prstGeom prst="ellipse">
            <a:avLst/>
          </a:prstGeom>
          <a:solidFill>
            <a:srgbClr val="3DAA7F"/>
          </a:solidFill>
          <a:ln/>
        </p:spPr>
        <p:txBody>
          <a:bodyPr/>
          <a:lstStyle/>
          <a:p>
            <a:endParaRPr lang="en-US"/>
          </a:p>
        </p:txBody>
      </p:sp>
      <p:sp>
        <p:nvSpPr>
          <p:cNvPr id="18" name="Text 16"/>
          <p:cNvSpPr/>
          <p:nvPr/>
        </p:nvSpPr>
        <p:spPr>
          <a:xfrm>
            <a:off x="777240" y="306324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280160" y="3017520"/>
            <a:ext cx="2834640" cy="411480"/>
          </a:xfrm>
          <a:prstGeom prst="rect">
            <a:avLst/>
          </a:prstGeom>
          <a:noFill/>
          <a:ln/>
        </p:spPr>
        <p:txBody>
          <a:bodyPr wrap="square" rtlCol="0" anchor="ctr"/>
          <a:lstStyle/>
          <a:p>
            <a:pPr marL="0" indent="0">
              <a:buNone/>
            </a:pPr>
            <a:r>
              <a:rPr lang="en-US" sz="1500" b="1" dirty="0">
                <a:solidFill>
                  <a:srgbClr val="1A2332"/>
                </a:solidFill>
                <a:latin typeface="Calibri" pitchFamily="34" charset="0"/>
                <a:ea typeface="Calibri" pitchFamily="34" charset="-122"/>
                <a:cs typeface="Calibri" pitchFamily="34" charset="-120"/>
              </a:rPr>
              <a:t>Day-0 Projection</a:t>
            </a:r>
            <a:endParaRPr lang="en-US" sz="1500" dirty="0"/>
          </a:p>
        </p:txBody>
      </p:sp>
      <p:sp>
        <p:nvSpPr>
          <p:cNvPr id="20" name="Text 18"/>
          <p:cNvSpPr/>
          <p:nvPr/>
        </p:nvSpPr>
        <p:spPr>
          <a:xfrm>
            <a:off x="777240" y="3520440"/>
            <a:ext cx="3383280" cy="822960"/>
          </a:xfrm>
          <a:prstGeom prst="rect">
            <a:avLst/>
          </a:prstGeom>
          <a:noFill/>
          <a:ln/>
        </p:spPr>
        <p:txBody>
          <a:bodyPr wrap="square" rtlCol="0" anchor="t"/>
          <a:lstStyle/>
          <a:p>
            <a:pPr marL="0" indent="0">
              <a:buNone/>
            </a:pPr>
            <a:r>
              <a:rPr lang="en-US" sz="1150" dirty="0">
                <a:solidFill>
                  <a:srgbClr val="3A4555"/>
                </a:solidFill>
                <a:latin typeface="Calibri" pitchFamily="34" charset="0"/>
                <a:ea typeface="Calibri" pitchFamily="34" charset="-122"/>
                <a:cs typeface="Calibri" pitchFamily="34" charset="-120"/>
              </a:rPr>
              <a:t>Each month projected from prior month-end. Dec from Nov 30, Nov from Oct 31. Most current pipeline, no stale data.</a:t>
            </a:r>
            <a:endParaRPr lang="en-US" sz="1150" dirty="0"/>
          </a:p>
        </p:txBody>
      </p:sp>
      <p:sp>
        <p:nvSpPr>
          <p:cNvPr id="21" name="Shape 19"/>
          <p:cNvSpPr/>
          <p:nvPr/>
        </p:nvSpPr>
        <p:spPr>
          <a:xfrm>
            <a:off x="4663440" y="2880360"/>
            <a:ext cx="3840480" cy="16002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22" name="Shape 20"/>
          <p:cNvSpPr/>
          <p:nvPr/>
        </p:nvSpPr>
        <p:spPr>
          <a:xfrm>
            <a:off x="4663440" y="2880360"/>
            <a:ext cx="64008" cy="1600200"/>
          </a:xfrm>
          <a:prstGeom prst="rect">
            <a:avLst/>
          </a:prstGeom>
          <a:solidFill>
            <a:srgbClr val="4A90D9"/>
          </a:solidFill>
          <a:ln/>
        </p:spPr>
        <p:txBody>
          <a:bodyPr/>
          <a:lstStyle/>
          <a:p>
            <a:endParaRPr lang="en-US"/>
          </a:p>
        </p:txBody>
      </p:sp>
      <p:sp>
        <p:nvSpPr>
          <p:cNvPr id="23" name="Shape 21"/>
          <p:cNvSpPr/>
          <p:nvPr/>
        </p:nvSpPr>
        <p:spPr>
          <a:xfrm>
            <a:off x="4892040" y="3063240"/>
            <a:ext cx="365760" cy="365760"/>
          </a:xfrm>
          <a:prstGeom prst="ellipse">
            <a:avLst/>
          </a:prstGeom>
          <a:solidFill>
            <a:srgbClr val="4A90D9"/>
          </a:solidFill>
          <a:ln/>
        </p:spPr>
        <p:txBody>
          <a:bodyPr/>
          <a:lstStyle/>
          <a:p>
            <a:endParaRPr lang="en-US"/>
          </a:p>
        </p:txBody>
      </p:sp>
      <p:sp>
        <p:nvSpPr>
          <p:cNvPr id="24" name="Text 22"/>
          <p:cNvSpPr/>
          <p:nvPr/>
        </p:nvSpPr>
        <p:spPr>
          <a:xfrm>
            <a:off x="4892040" y="3063240"/>
            <a:ext cx="36576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5394960" y="3017520"/>
            <a:ext cx="2834640" cy="411480"/>
          </a:xfrm>
          <a:prstGeom prst="rect">
            <a:avLst/>
          </a:prstGeom>
          <a:noFill/>
          <a:ln/>
        </p:spPr>
        <p:txBody>
          <a:bodyPr wrap="square" rtlCol="0" anchor="ctr"/>
          <a:lstStyle/>
          <a:p>
            <a:pPr marL="0" indent="0">
              <a:buNone/>
            </a:pPr>
            <a:r>
              <a:rPr lang="en-US" sz="1500" b="1" dirty="0">
                <a:solidFill>
                  <a:srgbClr val="1A2332"/>
                </a:solidFill>
                <a:latin typeface="Calibri" pitchFamily="34" charset="0"/>
                <a:ea typeface="Calibri" pitchFamily="34" charset="-122"/>
                <a:cs typeface="Calibri" pitchFamily="34" charset="-120"/>
              </a:rPr>
              <a:t>Rolling Training Window</a:t>
            </a:r>
            <a:endParaRPr lang="en-US" sz="1500" dirty="0"/>
          </a:p>
        </p:txBody>
      </p:sp>
      <p:sp>
        <p:nvSpPr>
          <p:cNvPr id="26" name="Text 24"/>
          <p:cNvSpPr/>
          <p:nvPr/>
        </p:nvSpPr>
        <p:spPr>
          <a:xfrm>
            <a:off x="4892040" y="3520440"/>
            <a:ext cx="3383280" cy="822960"/>
          </a:xfrm>
          <a:prstGeom prst="rect">
            <a:avLst/>
          </a:prstGeom>
          <a:noFill/>
          <a:ln/>
        </p:spPr>
        <p:txBody>
          <a:bodyPr wrap="square" rtlCol="0" anchor="t"/>
          <a:lstStyle/>
          <a:p>
            <a:pPr marL="0" indent="0">
              <a:buNone/>
            </a:pPr>
            <a:r>
              <a:rPr lang="en-US" sz="1150" dirty="0">
                <a:solidFill>
                  <a:srgbClr val="3A4555"/>
                </a:solidFill>
                <a:latin typeface="Calibri" pitchFamily="34" charset="0"/>
                <a:ea typeface="Calibri" pitchFamily="34" charset="-122"/>
                <a:cs typeface="Calibri" pitchFamily="34" charset="-120"/>
              </a:rPr>
              <a:t>12-month rolling window so the model adapts when market conditions shift. No longer stuck on 2024 data.</a:t>
            </a:r>
            <a:endParaRPr lang="en-US" sz="1150" dirty="0"/>
          </a:p>
        </p:txBody>
      </p:sp>
      <p:sp>
        <p:nvSpPr>
          <p:cNvPr id="27" name="Text 25"/>
          <p:cNvSpPr/>
          <p:nvPr/>
        </p:nvSpPr>
        <p:spPr>
          <a:xfrm>
            <a:off x="457200" y="4754880"/>
            <a:ext cx="3657600" cy="320040"/>
          </a:xfrm>
          <a:prstGeom prst="rect">
            <a:avLst/>
          </a:prstGeom>
          <a:noFill/>
          <a:ln/>
        </p:spPr>
        <p:txBody>
          <a:bodyPr wrap="square" rtlCol="0" anchor="ctr"/>
          <a:lstStyle/>
          <a:p>
            <a:pPr marL="0" indent="0">
              <a:buNone/>
            </a:pPr>
            <a:r>
              <a:rPr lang="en-US" sz="900" dirty="0">
                <a:latin typeface="Calibri" pitchFamily="34" charset="0"/>
                <a:ea typeface="Calibri" pitchFamily="34" charset="-122"/>
                <a:cs typeface="Calibri" pitchFamily="34" charset="-120"/>
              </a:rPr>
              <a:t>The University of Chicago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rtlCol="0" anchor="ctr"/>
          <a:lstStyle/>
          <a:p>
            <a:pPr marL="0" indent="0">
              <a:buNone/>
            </a:pPr>
            <a:r>
              <a:rPr lang="en-US" sz="2600" b="1" dirty="0">
                <a:solidFill>
                  <a:srgbClr val="1A2332"/>
                </a:solidFill>
                <a:latin typeface="Georgia" pitchFamily="34" charset="0"/>
                <a:ea typeface="Georgia" pitchFamily="34" charset="-122"/>
                <a:cs typeface="Georgia" pitchFamily="34" charset="-120"/>
              </a:rPr>
              <a:t>Product &amp; Purpose — Now Independent</a:t>
            </a:r>
            <a:endParaRPr lang="en-US" sz="2600" dirty="0"/>
          </a:p>
        </p:txBody>
      </p:sp>
      <p:pic>
        <p:nvPicPr>
          <p:cNvPr id="3" name="Image 0" descr="/home/claude/v2_stage_fund_rates_stratified.png"/>
          <p:cNvPicPr>
            <a:picLocks noChangeAspect="1"/>
          </p:cNvPicPr>
          <p:nvPr/>
        </p:nvPicPr>
        <p:blipFill>
          <a:blip r:embed="rId3"/>
          <a:stretch>
            <a:fillRect/>
          </a:stretch>
        </p:blipFill>
        <p:spPr>
          <a:xfrm>
            <a:off x="274320" y="868680"/>
            <a:ext cx="5669280" cy="3291840"/>
          </a:xfrm>
          <a:prstGeom prst="rect">
            <a:avLst/>
          </a:prstGeom>
        </p:spPr>
      </p:pic>
      <p:sp>
        <p:nvSpPr>
          <p:cNvPr id="4" name="Shape 1"/>
          <p:cNvSpPr/>
          <p:nvPr/>
        </p:nvSpPr>
        <p:spPr>
          <a:xfrm>
            <a:off x="6126480" y="914400"/>
            <a:ext cx="2743200" cy="3246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2"/>
          <p:cNvSpPr/>
          <p:nvPr/>
        </p:nvSpPr>
        <p:spPr>
          <a:xfrm>
            <a:off x="6126480" y="914400"/>
            <a:ext cx="2743200" cy="54864"/>
          </a:xfrm>
          <a:prstGeom prst="rect">
            <a:avLst/>
          </a:prstGeom>
          <a:solidFill>
            <a:srgbClr val="3DAA7F"/>
          </a:solidFill>
          <a:ln/>
        </p:spPr>
        <p:txBody>
          <a:bodyPr/>
          <a:lstStyle/>
          <a:p>
            <a:endParaRPr lang="en-US"/>
          </a:p>
        </p:txBody>
      </p:sp>
      <p:sp>
        <p:nvSpPr>
          <p:cNvPr id="6" name="Text 3"/>
          <p:cNvSpPr/>
          <p:nvPr/>
        </p:nvSpPr>
        <p:spPr>
          <a:xfrm>
            <a:off x="6309360" y="1051560"/>
            <a:ext cx="2377440" cy="320040"/>
          </a:xfrm>
          <a:prstGeom prst="rect">
            <a:avLst/>
          </a:prstGeom>
          <a:noFill/>
          <a:ln/>
        </p:spPr>
        <p:txBody>
          <a:bodyPr wrap="square" rtlCol="0" anchor="ctr"/>
          <a:lstStyle/>
          <a:p>
            <a:pPr marL="0" indent="0">
              <a:buNone/>
            </a:pPr>
            <a:r>
              <a:rPr lang="en-US" sz="1400" b="1" dirty="0">
                <a:solidFill>
                  <a:srgbClr val="1A2332"/>
                </a:solidFill>
                <a:latin typeface="Calibri" pitchFamily="34" charset="0"/>
                <a:ea typeface="Calibri" pitchFamily="34" charset="-122"/>
                <a:cs typeface="Calibri" pitchFamily="34" charset="-120"/>
              </a:rPr>
              <a:t>Key Takeaways</a:t>
            </a:r>
            <a:endParaRPr lang="en-US" sz="1400" dirty="0"/>
          </a:p>
        </p:txBody>
      </p:sp>
      <p:sp>
        <p:nvSpPr>
          <p:cNvPr id="7" name="Text 4"/>
          <p:cNvSpPr/>
          <p:nvPr/>
        </p:nvSpPr>
        <p:spPr>
          <a:xfrm>
            <a:off x="6309360" y="1417320"/>
            <a:ext cx="2377440" cy="2560320"/>
          </a:xfrm>
          <a:prstGeom prst="rect">
            <a:avLst/>
          </a:prstGeom>
          <a:noFill/>
          <a:ln/>
        </p:spPr>
        <p:txBody>
          <a:bodyPr wrap="square" rtlCol="0" anchor="t"/>
          <a:lstStyle/>
          <a:p>
            <a:pPr marL="0" indent="0">
              <a:buNone/>
            </a:pPr>
            <a:r>
              <a:rPr lang="en-US" sz="1100" b="1" dirty="0">
                <a:solidFill>
                  <a:srgbClr val="1A2332"/>
                </a:solidFill>
                <a:latin typeface="Calibri" pitchFamily="34" charset="0"/>
                <a:ea typeface="Calibri" pitchFamily="34" charset="-122"/>
                <a:cs typeface="Calibri" pitchFamily="34" charset="-120"/>
              </a:rPr>
              <a:t>At Approved (where most active loans sit):</a:t>
            </a:r>
            <a:endParaRPr lang="en-US" sz="1100" dirty="0"/>
          </a:p>
          <a:p>
            <a:pPr marL="0" indent="0">
              <a:buNone/>
            </a:pPr>
            <a:endParaRPr lang="en-US" sz="1100" dirty="0"/>
          </a:p>
          <a:p>
            <a:pPr marL="0" indent="0">
              <a:buNone/>
            </a:pPr>
            <a:r>
              <a:rPr lang="en-US" sz="1100" dirty="0">
                <a:solidFill>
                  <a:srgbClr val="1A2332"/>
                </a:solidFill>
                <a:latin typeface="Calibri" pitchFamily="34" charset="0"/>
                <a:ea typeface="Calibri" pitchFamily="34" charset="-122"/>
                <a:cs typeface="Calibri" pitchFamily="34" charset="-120"/>
              </a:rPr>
              <a:t>Baseline: 52%</a:t>
            </a:r>
            <a:endParaRPr lang="en-US" sz="1100" dirty="0"/>
          </a:p>
          <a:p>
            <a:pPr marL="0" indent="0">
              <a:buNone/>
            </a:pPr>
            <a:r>
              <a:rPr lang="en-US" sz="1100" dirty="0">
                <a:solidFill>
                  <a:srgbClr val="4A90D9"/>
                </a:solidFill>
                <a:latin typeface="Calibri" pitchFamily="34" charset="0"/>
                <a:ea typeface="Calibri" pitchFamily="34" charset="-122"/>
                <a:cs typeface="Calibri" pitchFamily="34" charset="-120"/>
              </a:rPr>
              <a:t>NONCONF / Purchase: 60%</a:t>
            </a:r>
            <a:endParaRPr lang="en-US" sz="1100" dirty="0"/>
          </a:p>
          <a:p>
            <a:pPr marL="0" indent="0">
              <a:buNone/>
            </a:pPr>
            <a:r>
              <a:rPr lang="en-US" sz="1100" dirty="0">
                <a:solidFill>
                  <a:srgbClr val="E8913A"/>
                </a:solidFill>
                <a:latin typeface="Calibri" pitchFamily="34" charset="0"/>
                <a:ea typeface="Calibri" pitchFamily="34" charset="-122"/>
                <a:cs typeface="Calibri" pitchFamily="34" charset="-120"/>
              </a:rPr>
              <a:t>FHA / Purchase: 64%</a:t>
            </a:r>
            <a:endParaRPr lang="en-US" sz="1100" dirty="0"/>
          </a:p>
          <a:p>
            <a:pPr marL="0" indent="0">
              <a:buNone/>
            </a:pPr>
            <a:r>
              <a:rPr lang="en-US" sz="1100" dirty="0">
                <a:solidFill>
                  <a:srgbClr val="1A2332"/>
                </a:solidFill>
                <a:latin typeface="Calibri" pitchFamily="34" charset="0"/>
                <a:ea typeface="Calibri" pitchFamily="34" charset="-122"/>
                <a:cs typeface="Calibri" pitchFamily="34" charset="-120"/>
              </a:rPr>
              <a:t>Refi CashOut: 47%</a:t>
            </a:r>
            <a:endParaRPr lang="en-US" sz="1100" dirty="0"/>
          </a:p>
          <a:p>
            <a:pPr marL="0" indent="0">
              <a:buNone/>
            </a:pPr>
            <a:endParaRPr lang="en-US" sz="1100" dirty="0"/>
          </a:p>
          <a:p>
            <a:pPr marL="0" indent="0">
              <a:buNone/>
            </a:pPr>
            <a:r>
              <a:rPr lang="en-US" sz="1050" dirty="0">
                <a:solidFill>
                  <a:srgbClr val="3A4555"/>
                </a:solidFill>
                <a:latin typeface="Calibri" pitchFamily="34" charset="0"/>
                <a:ea typeface="Calibri" pitchFamily="34" charset="-122"/>
                <a:cs typeface="Calibri" pitchFamily="34" charset="-120"/>
              </a:rPr>
              <a:t>Product &amp; purpose now visible as independent features. Their standalone weight is modest (~0.1–0.2%), because most signal was already captured by stage — but they're now auditable.</a:t>
            </a:r>
            <a:endParaRPr lang="en-US" sz="1100" dirty="0"/>
          </a:p>
        </p:txBody>
      </p:sp>
      <p:sp>
        <p:nvSpPr>
          <p:cNvPr id="8" name="Text 5"/>
          <p:cNvSpPr/>
          <p:nvPr/>
        </p:nvSpPr>
        <p:spPr>
          <a:xfrm>
            <a:off x="457200" y="4754880"/>
            <a:ext cx="3657600" cy="320040"/>
          </a:xfrm>
          <a:prstGeom prst="rect">
            <a:avLst/>
          </a:prstGeom>
          <a:noFill/>
          <a:ln/>
        </p:spPr>
        <p:txBody>
          <a:bodyPr wrap="square" rtlCol="0" anchor="ctr"/>
          <a:lstStyle/>
          <a:p>
            <a:r>
              <a:rPr lang="en-US" sz="900" dirty="0">
                <a:latin typeface="Calibri" pitchFamily="34" charset="0"/>
                <a:ea typeface="Calibri" pitchFamily="34" charset="-122"/>
                <a:cs typeface="Calibri" pitchFamily="34" charset="-120"/>
              </a:rPr>
              <a:t>The University of Chicago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rtlCol="0" anchor="ctr"/>
          <a:lstStyle/>
          <a:p>
            <a:pPr marL="0" indent="0">
              <a:buNone/>
            </a:pPr>
            <a:r>
              <a:rPr lang="en-US" sz="2600" b="1" dirty="0">
                <a:solidFill>
                  <a:srgbClr val="1A2332"/>
                </a:solidFill>
                <a:latin typeface="Georgia" pitchFamily="34" charset="0"/>
                <a:ea typeface="Georgia" pitchFamily="34" charset="-122"/>
                <a:cs typeface="Georgia" pitchFamily="34" charset="-120"/>
              </a:rPr>
              <a:t>Rate Lock — Your Insight</a:t>
            </a:r>
            <a:endParaRPr lang="en-US" sz="2600" dirty="0"/>
          </a:p>
        </p:txBody>
      </p:sp>
      <p:pic>
        <p:nvPicPr>
          <p:cNvPr id="3" name="Image 0" descr="/home/claude/v2_lock_diagnostic.png"/>
          <p:cNvPicPr>
            <a:picLocks noChangeAspect="1"/>
          </p:cNvPicPr>
          <p:nvPr/>
        </p:nvPicPr>
        <p:blipFill>
          <a:blip r:embed="rId3"/>
          <a:stretch>
            <a:fillRect/>
          </a:stretch>
        </p:blipFill>
        <p:spPr>
          <a:xfrm>
            <a:off x="274320" y="868680"/>
            <a:ext cx="5669280" cy="3291840"/>
          </a:xfrm>
          <a:prstGeom prst="rect">
            <a:avLst/>
          </a:prstGeom>
        </p:spPr>
      </p:pic>
      <p:sp>
        <p:nvSpPr>
          <p:cNvPr id="4" name="Shape 1"/>
          <p:cNvSpPr/>
          <p:nvPr/>
        </p:nvSpPr>
        <p:spPr>
          <a:xfrm>
            <a:off x="6126480" y="914400"/>
            <a:ext cx="2743200" cy="3246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2"/>
          <p:cNvSpPr/>
          <p:nvPr/>
        </p:nvSpPr>
        <p:spPr>
          <a:xfrm>
            <a:off x="6126480" y="914400"/>
            <a:ext cx="2743200" cy="54864"/>
          </a:xfrm>
          <a:prstGeom prst="rect">
            <a:avLst/>
          </a:prstGeom>
          <a:solidFill>
            <a:srgbClr val="E8913A"/>
          </a:solidFill>
          <a:ln/>
        </p:spPr>
        <p:txBody>
          <a:bodyPr/>
          <a:lstStyle/>
          <a:p>
            <a:endParaRPr lang="en-US"/>
          </a:p>
        </p:txBody>
      </p:sp>
      <p:sp>
        <p:nvSpPr>
          <p:cNvPr id="6" name="Text 3"/>
          <p:cNvSpPr/>
          <p:nvPr/>
        </p:nvSpPr>
        <p:spPr>
          <a:xfrm>
            <a:off x="6309360" y="1051560"/>
            <a:ext cx="2377440" cy="320040"/>
          </a:xfrm>
          <a:prstGeom prst="rect">
            <a:avLst/>
          </a:prstGeom>
          <a:noFill/>
          <a:ln/>
        </p:spPr>
        <p:txBody>
          <a:bodyPr wrap="square" rtlCol="0" anchor="ctr"/>
          <a:lstStyle/>
          <a:p>
            <a:pPr marL="0" indent="0">
              <a:buNone/>
            </a:pPr>
            <a:r>
              <a:rPr lang="en-US" sz="1400" b="1" dirty="0">
                <a:solidFill>
                  <a:srgbClr val="1A2332"/>
                </a:solidFill>
                <a:latin typeface="Calibri" pitchFamily="34" charset="0"/>
                <a:ea typeface="Calibri" pitchFamily="34" charset="-122"/>
                <a:cs typeface="Calibri" pitchFamily="34" charset="-120"/>
              </a:rPr>
              <a:t>The Lock Story</a:t>
            </a:r>
            <a:endParaRPr lang="en-US" sz="1400" dirty="0"/>
          </a:p>
        </p:txBody>
      </p:sp>
      <p:sp>
        <p:nvSpPr>
          <p:cNvPr id="7" name="Text 4"/>
          <p:cNvSpPr/>
          <p:nvPr/>
        </p:nvSpPr>
        <p:spPr>
          <a:xfrm>
            <a:off x="6309360" y="1417320"/>
            <a:ext cx="2377440" cy="2560320"/>
          </a:xfrm>
          <a:prstGeom prst="rect">
            <a:avLst/>
          </a:prstGeom>
          <a:noFill/>
          <a:ln/>
        </p:spPr>
        <p:txBody>
          <a:bodyPr wrap="square" rtlCol="0" anchor="t"/>
          <a:lstStyle/>
          <a:p>
            <a:pPr marL="0" indent="0">
              <a:buNone/>
            </a:pPr>
            <a:r>
              <a:rPr lang="en-US" sz="2200" b="1" dirty="0">
                <a:solidFill>
                  <a:srgbClr val="E8913A"/>
                </a:solidFill>
                <a:latin typeface="Calibri" pitchFamily="34" charset="0"/>
                <a:ea typeface="Calibri" pitchFamily="34" charset="-122"/>
                <a:cs typeface="Calibri" pitchFamily="34" charset="-120"/>
              </a:rPr>
              <a:t>99.3%</a:t>
            </a:r>
            <a:endParaRPr lang="en-US" sz="2200" dirty="0"/>
          </a:p>
          <a:p>
            <a:pPr marL="0" indent="0">
              <a:buNone/>
            </a:pPr>
            <a:r>
              <a:rPr lang="en-US" sz="1050" dirty="0">
                <a:solidFill>
                  <a:srgbClr val="1A2332"/>
                </a:solidFill>
                <a:latin typeface="Calibri" pitchFamily="34" charset="0"/>
                <a:ea typeface="Calibri" pitchFamily="34" charset="-122"/>
                <a:cs typeface="Calibri" pitchFamily="34" charset="-120"/>
              </a:rPr>
              <a:t>of funded loans have a rate lock</a:t>
            </a:r>
            <a:endParaRPr lang="en-US" sz="2200" dirty="0"/>
          </a:p>
          <a:p>
            <a:pPr marL="0" indent="0">
              <a:buNone/>
            </a:pPr>
            <a:endParaRPr lang="en-US" sz="2200" dirty="0"/>
          </a:p>
          <a:p>
            <a:pPr marL="0" indent="0">
              <a:buNone/>
            </a:pPr>
            <a:r>
              <a:rPr lang="en-US" sz="2200" b="1" dirty="0">
                <a:solidFill>
                  <a:srgbClr val="1A2332"/>
                </a:solidFill>
                <a:latin typeface="Calibri" pitchFamily="34" charset="0"/>
                <a:ea typeface="Calibri" pitchFamily="34" charset="-122"/>
                <a:cs typeface="Calibri" pitchFamily="34" charset="-120"/>
              </a:rPr>
              <a:t>0.6%</a:t>
            </a:r>
            <a:endParaRPr lang="en-US" sz="2200" dirty="0"/>
          </a:p>
          <a:p>
            <a:pPr marL="0" indent="0">
              <a:buNone/>
            </a:pPr>
            <a:r>
              <a:rPr lang="en-US" sz="1050" dirty="0">
                <a:solidFill>
                  <a:srgbClr val="1A2332"/>
                </a:solidFill>
                <a:latin typeface="Calibri" pitchFamily="34" charset="0"/>
                <a:ea typeface="Calibri" pitchFamily="34" charset="-122"/>
                <a:cs typeface="Calibri" pitchFamily="34" charset="-120"/>
              </a:rPr>
              <a:t>of unlocked loans end up funding</a:t>
            </a:r>
            <a:endParaRPr lang="en-US" sz="2200" dirty="0"/>
          </a:p>
          <a:p>
            <a:pPr marL="0" indent="0">
              <a:buNone/>
            </a:pPr>
            <a:endParaRPr lang="en-US" sz="2200" dirty="0"/>
          </a:p>
          <a:p>
            <a:pPr marL="0" indent="0">
              <a:buNone/>
            </a:pPr>
            <a:r>
              <a:rPr lang="en-US" sz="2200" b="1" dirty="0">
                <a:solidFill>
                  <a:srgbClr val="4A90D9"/>
                </a:solidFill>
                <a:latin typeface="Calibri" pitchFamily="34" charset="0"/>
                <a:ea typeface="Calibri" pitchFamily="34" charset="-122"/>
                <a:cs typeface="Calibri" pitchFamily="34" charset="-120"/>
              </a:rPr>
              <a:t>33%</a:t>
            </a:r>
            <a:endParaRPr lang="en-US" sz="2200" dirty="0"/>
          </a:p>
          <a:p>
            <a:pPr marL="0" indent="0">
              <a:buNone/>
            </a:pPr>
            <a:r>
              <a:rPr lang="en-US" sz="1050" dirty="0">
                <a:solidFill>
                  <a:srgbClr val="1A2332"/>
                </a:solidFill>
                <a:latin typeface="Calibri" pitchFamily="34" charset="0"/>
                <a:ea typeface="Calibri" pitchFamily="34" charset="-122"/>
                <a:cs typeface="Calibri" pitchFamily="34" charset="-120"/>
              </a:rPr>
              <a:t>lock rate at Approved — the key differentiation zone</a:t>
            </a:r>
            <a:endParaRPr lang="en-US" sz="2200" dirty="0"/>
          </a:p>
          <a:p>
            <a:pPr marL="0" indent="0">
              <a:buNone/>
            </a:pPr>
            <a:endParaRPr lang="en-US" sz="2200" dirty="0"/>
          </a:p>
          <a:p>
            <a:pPr marL="0" indent="0">
              <a:buNone/>
            </a:pPr>
            <a:endParaRPr lang="en-US" sz="1050" i="1" dirty="0">
              <a:solidFill>
                <a:srgbClr val="3A4555"/>
              </a:solidFill>
              <a:latin typeface="Calibri" pitchFamily="34" charset="0"/>
              <a:ea typeface="Calibri" pitchFamily="34" charset="-122"/>
              <a:cs typeface="Calibri" pitchFamily="34" charset="-120"/>
            </a:endParaRPr>
          </a:p>
          <a:p>
            <a:pPr marL="0" indent="0">
              <a:buNone/>
            </a:pPr>
            <a:r>
              <a:rPr lang="en-US" sz="1050" i="1" dirty="0">
                <a:solidFill>
                  <a:srgbClr val="3A4555"/>
                </a:solidFill>
                <a:latin typeface="Calibri" pitchFamily="34" charset="0"/>
                <a:ea typeface="Calibri" pitchFamily="34" charset="-122"/>
                <a:cs typeface="Calibri" pitchFamily="34" charset="-120"/>
              </a:rPr>
              <a:t>Lock features improved MAPE from 6.5% → 4.8%, but 68% of model weight lands on lock timing.</a:t>
            </a:r>
            <a:endParaRPr lang="en-US" sz="2200" dirty="0"/>
          </a:p>
        </p:txBody>
      </p:sp>
      <p:sp>
        <p:nvSpPr>
          <p:cNvPr id="8" name="Text 5"/>
          <p:cNvSpPr/>
          <p:nvPr/>
        </p:nvSpPr>
        <p:spPr>
          <a:xfrm>
            <a:off x="457200" y="4754880"/>
            <a:ext cx="3657600" cy="320040"/>
          </a:xfrm>
          <a:prstGeom prst="rect">
            <a:avLst/>
          </a:prstGeom>
          <a:noFill/>
          <a:ln/>
        </p:spPr>
        <p:txBody>
          <a:bodyPr wrap="square" rtlCol="0" anchor="ctr"/>
          <a:lstStyle/>
          <a:p>
            <a:r>
              <a:rPr lang="en-US" sz="900" dirty="0">
                <a:latin typeface="Calibri" pitchFamily="34" charset="0"/>
                <a:ea typeface="Calibri" pitchFamily="34" charset="-122"/>
                <a:cs typeface="Calibri" pitchFamily="34" charset="-120"/>
              </a:rPr>
              <a:t>The University of Chicago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rtlCol="0" anchor="ctr"/>
          <a:lstStyle/>
          <a:p>
            <a:pPr marL="0" indent="0">
              <a:buNone/>
            </a:pPr>
            <a:r>
              <a:rPr lang="en-US" sz="2600" b="1" dirty="0">
                <a:solidFill>
                  <a:srgbClr val="1A2332"/>
                </a:solidFill>
                <a:latin typeface="Georgia" pitchFamily="34" charset="0"/>
                <a:ea typeface="Georgia" pitchFamily="34" charset="-122"/>
                <a:cs typeface="Georgia" pitchFamily="34" charset="-120"/>
              </a:rPr>
              <a:t>What Drives the Prediction</a:t>
            </a:r>
            <a:endParaRPr lang="en-US" sz="2600" dirty="0"/>
          </a:p>
        </p:txBody>
      </p:sp>
      <p:pic>
        <p:nvPicPr>
          <p:cNvPr id="3" name="Image 0" descr="/home/claude/v2_feature_importance.png"/>
          <p:cNvPicPr>
            <a:picLocks noChangeAspect="1"/>
          </p:cNvPicPr>
          <p:nvPr/>
        </p:nvPicPr>
        <p:blipFill>
          <a:blip r:embed="rId3"/>
          <a:stretch>
            <a:fillRect/>
          </a:stretch>
        </p:blipFill>
        <p:spPr>
          <a:xfrm>
            <a:off x="274320" y="868680"/>
            <a:ext cx="5943600" cy="3474720"/>
          </a:xfrm>
          <a:prstGeom prst="rect">
            <a:avLst/>
          </a:prstGeom>
        </p:spPr>
      </p:pic>
      <p:sp>
        <p:nvSpPr>
          <p:cNvPr id="4" name="Shape 1"/>
          <p:cNvSpPr/>
          <p:nvPr/>
        </p:nvSpPr>
        <p:spPr>
          <a:xfrm>
            <a:off x="6400800" y="914400"/>
            <a:ext cx="246888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2"/>
          <p:cNvSpPr/>
          <p:nvPr/>
        </p:nvSpPr>
        <p:spPr>
          <a:xfrm>
            <a:off x="6400800" y="914400"/>
            <a:ext cx="2468880" cy="54864"/>
          </a:xfrm>
          <a:prstGeom prst="rect">
            <a:avLst/>
          </a:prstGeom>
          <a:solidFill>
            <a:srgbClr val="4A90D9"/>
          </a:solidFill>
          <a:ln/>
        </p:spPr>
        <p:txBody>
          <a:bodyPr/>
          <a:lstStyle/>
          <a:p>
            <a:endParaRPr lang="en-US"/>
          </a:p>
        </p:txBody>
      </p:sp>
      <p:sp>
        <p:nvSpPr>
          <p:cNvPr id="6" name="Text 3"/>
          <p:cNvSpPr/>
          <p:nvPr/>
        </p:nvSpPr>
        <p:spPr>
          <a:xfrm>
            <a:off x="6537960" y="1051560"/>
            <a:ext cx="2194560" cy="1737360"/>
          </a:xfrm>
          <a:prstGeom prst="rect">
            <a:avLst/>
          </a:prstGeom>
          <a:noFill/>
          <a:ln/>
        </p:spPr>
        <p:txBody>
          <a:bodyPr wrap="square" rtlCol="0" anchor="t"/>
          <a:lstStyle/>
          <a:p>
            <a:pPr marL="0" indent="0">
              <a:buNone/>
            </a:pPr>
            <a:r>
              <a:rPr lang="en-US" sz="1300" b="1" dirty="0">
                <a:solidFill>
                  <a:srgbClr val="1A2332"/>
                </a:solidFill>
                <a:latin typeface="Calibri" pitchFamily="34" charset="0"/>
                <a:ea typeface="Calibri" pitchFamily="34" charset="-122"/>
                <a:cs typeface="Calibri" pitchFamily="34" charset="-120"/>
              </a:rPr>
              <a:t>v1 → v2 shift</a:t>
            </a:r>
            <a:endParaRPr lang="en-US" sz="1300" dirty="0"/>
          </a:p>
          <a:p>
            <a:pPr marL="0" indent="0">
              <a:buNone/>
            </a:pPr>
            <a:endParaRPr lang="en-US" sz="1300" dirty="0"/>
          </a:p>
          <a:p>
            <a:pPr marL="0" indent="0">
              <a:buNone/>
            </a:pPr>
            <a:r>
              <a:rPr lang="en-US" sz="1050" dirty="0">
                <a:solidFill>
                  <a:srgbClr val="1A2332"/>
                </a:solidFill>
                <a:latin typeface="Calibri" pitchFamily="34" charset="0"/>
                <a:ea typeface="Calibri" pitchFamily="34" charset="-122"/>
                <a:cs typeface="Calibri" pitchFamily="34" charset="-120"/>
              </a:rPr>
              <a:t>Stage probability dropped from 59.5% → 5.7% because lock absorbed that signal.</a:t>
            </a:r>
            <a:endParaRPr lang="en-US" sz="1300" dirty="0"/>
          </a:p>
          <a:p>
            <a:pPr marL="0" indent="0">
              <a:buNone/>
            </a:pPr>
            <a:endParaRPr lang="en-US" sz="1300" dirty="0"/>
          </a:p>
          <a:p>
            <a:pPr marL="0" indent="0">
              <a:buNone/>
            </a:pPr>
            <a:r>
              <a:rPr lang="en-US" sz="1050" dirty="0">
                <a:solidFill>
                  <a:srgbClr val="3A4555"/>
                </a:solidFill>
                <a:latin typeface="Calibri" pitchFamily="34" charset="0"/>
                <a:ea typeface="Calibri" pitchFamily="34" charset="-122"/>
                <a:cs typeface="Calibri" pitchFamily="34" charset="-120"/>
              </a:rPr>
              <a:t>Lock expiry vs month-end alone carries 68% — this is the Loan A vs Loan B signal Augie described.</a:t>
            </a:r>
            <a:endParaRPr lang="en-US" sz="1300" dirty="0"/>
          </a:p>
        </p:txBody>
      </p:sp>
      <p:sp>
        <p:nvSpPr>
          <p:cNvPr id="7" name="Shape 4"/>
          <p:cNvSpPr/>
          <p:nvPr/>
        </p:nvSpPr>
        <p:spPr>
          <a:xfrm>
            <a:off x="6400800" y="3108960"/>
            <a:ext cx="246888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8" name="Shape 5"/>
          <p:cNvSpPr/>
          <p:nvPr/>
        </p:nvSpPr>
        <p:spPr>
          <a:xfrm>
            <a:off x="6583680" y="3246120"/>
            <a:ext cx="182880" cy="137160"/>
          </a:xfrm>
          <a:prstGeom prst="rect">
            <a:avLst/>
          </a:prstGeom>
          <a:solidFill>
            <a:srgbClr val="E8913A"/>
          </a:solidFill>
          <a:ln/>
        </p:spPr>
        <p:txBody>
          <a:bodyPr/>
          <a:lstStyle/>
          <a:p>
            <a:endParaRPr lang="en-US"/>
          </a:p>
        </p:txBody>
      </p:sp>
      <p:sp>
        <p:nvSpPr>
          <p:cNvPr id="9" name="Text 6"/>
          <p:cNvSpPr/>
          <p:nvPr/>
        </p:nvSpPr>
        <p:spPr>
          <a:xfrm>
            <a:off x="6858000" y="3200400"/>
            <a:ext cx="1828800" cy="228600"/>
          </a:xfrm>
          <a:prstGeom prst="rect">
            <a:avLst/>
          </a:prstGeom>
          <a:noFill/>
          <a:ln/>
        </p:spPr>
        <p:txBody>
          <a:bodyPr wrap="square" lIns="0" tIns="0" rIns="0" bIns="0" rtlCol="0" anchor="ctr"/>
          <a:lstStyle/>
          <a:p>
            <a:pPr marL="0" indent="0">
              <a:buNone/>
            </a:pPr>
            <a:r>
              <a:rPr lang="en-US" sz="1000" dirty="0">
                <a:solidFill>
                  <a:srgbClr val="3A4555"/>
                </a:solidFill>
                <a:latin typeface="Calibri" pitchFamily="34" charset="0"/>
                <a:ea typeface="Calibri" pitchFamily="34" charset="-122"/>
                <a:cs typeface="Calibri" pitchFamily="34" charset="-120"/>
              </a:rPr>
              <a:t>Rate Lock</a:t>
            </a:r>
            <a:endParaRPr lang="en-US" sz="1000" dirty="0"/>
          </a:p>
        </p:txBody>
      </p:sp>
      <p:sp>
        <p:nvSpPr>
          <p:cNvPr id="10" name="Shape 7"/>
          <p:cNvSpPr/>
          <p:nvPr/>
        </p:nvSpPr>
        <p:spPr>
          <a:xfrm>
            <a:off x="6583680" y="3502152"/>
            <a:ext cx="182880" cy="137160"/>
          </a:xfrm>
          <a:prstGeom prst="rect">
            <a:avLst/>
          </a:prstGeom>
          <a:solidFill>
            <a:srgbClr val="4A90D9"/>
          </a:solidFill>
          <a:ln/>
        </p:spPr>
        <p:txBody>
          <a:bodyPr/>
          <a:lstStyle/>
          <a:p>
            <a:endParaRPr lang="en-US"/>
          </a:p>
        </p:txBody>
      </p:sp>
      <p:sp>
        <p:nvSpPr>
          <p:cNvPr id="11" name="Text 8"/>
          <p:cNvSpPr/>
          <p:nvPr/>
        </p:nvSpPr>
        <p:spPr>
          <a:xfrm>
            <a:off x="6858000" y="3456432"/>
            <a:ext cx="1828800" cy="228600"/>
          </a:xfrm>
          <a:prstGeom prst="rect">
            <a:avLst/>
          </a:prstGeom>
          <a:noFill/>
          <a:ln/>
        </p:spPr>
        <p:txBody>
          <a:bodyPr wrap="square" lIns="0" tIns="0" rIns="0" bIns="0" rtlCol="0" anchor="ctr"/>
          <a:lstStyle/>
          <a:p>
            <a:pPr marL="0" indent="0">
              <a:buNone/>
            </a:pPr>
            <a:r>
              <a:rPr lang="en-US" sz="1000" dirty="0">
                <a:solidFill>
                  <a:srgbClr val="3A4555"/>
                </a:solidFill>
                <a:latin typeface="Calibri" pitchFamily="34" charset="0"/>
                <a:ea typeface="Calibri" pitchFamily="34" charset="-122"/>
                <a:cs typeface="Calibri" pitchFamily="34" charset="-120"/>
              </a:rPr>
              <a:t>Stage / Time</a:t>
            </a:r>
            <a:endParaRPr lang="en-US" sz="1000" dirty="0"/>
          </a:p>
        </p:txBody>
      </p:sp>
      <p:sp>
        <p:nvSpPr>
          <p:cNvPr id="12" name="Shape 9"/>
          <p:cNvSpPr/>
          <p:nvPr/>
        </p:nvSpPr>
        <p:spPr>
          <a:xfrm>
            <a:off x="6583680" y="3758184"/>
            <a:ext cx="182880" cy="137160"/>
          </a:xfrm>
          <a:prstGeom prst="rect">
            <a:avLst/>
          </a:prstGeom>
          <a:solidFill>
            <a:srgbClr val="1A2332"/>
          </a:solidFill>
          <a:ln/>
        </p:spPr>
        <p:txBody>
          <a:bodyPr/>
          <a:lstStyle/>
          <a:p>
            <a:endParaRPr lang="en-US"/>
          </a:p>
        </p:txBody>
      </p:sp>
      <p:sp>
        <p:nvSpPr>
          <p:cNvPr id="13" name="Text 10"/>
          <p:cNvSpPr/>
          <p:nvPr/>
        </p:nvSpPr>
        <p:spPr>
          <a:xfrm>
            <a:off x="6858000" y="3712464"/>
            <a:ext cx="1828800" cy="228600"/>
          </a:xfrm>
          <a:prstGeom prst="rect">
            <a:avLst/>
          </a:prstGeom>
          <a:noFill/>
          <a:ln/>
        </p:spPr>
        <p:txBody>
          <a:bodyPr wrap="square" lIns="0" tIns="0" rIns="0" bIns="0" rtlCol="0" anchor="ctr"/>
          <a:lstStyle/>
          <a:p>
            <a:pPr marL="0" indent="0">
              <a:buNone/>
            </a:pPr>
            <a:r>
              <a:rPr lang="en-US" sz="1000" dirty="0">
                <a:solidFill>
                  <a:srgbClr val="3A4555"/>
                </a:solidFill>
                <a:latin typeface="Calibri" pitchFamily="34" charset="0"/>
                <a:ea typeface="Calibri" pitchFamily="34" charset="-122"/>
                <a:cs typeface="Calibri" pitchFamily="34" charset="-120"/>
              </a:rPr>
              <a:t>Loan Characteristics</a:t>
            </a:r>
            <a:endParaRPr lang="en-US" sz="1000" dirty="0"/>
          </a:p>
        </p:txBody>
      </p:sp>
      <p:sp>
        <p:nvSpPr>
          <p:cNvPr id="14" name="Shape 11"/>
          <p:cNvSpPr/>
          <p:nvPr/>
        </p:nvSpPr>
        <p:spPr>
          <a:xfrm>
            <a:off x="6583680" y="4014216"/>
            <a:ext cx="182880" cy="137160"/>
          </a:xfrm>
          <a:prstGeom prst="rect">
            <a:avLst/>
          </a:prstGeom>
          <a:solidFill>
            <a:srgbClr val="3DAA7F"/>
          </a:solidFill>
          <a:ln/>
        </p:spPr>
        <p:txBody>
          <a:bodyPr/>
          <a:lstStyle/>
          <a:p>
            <a:endParaRPr lang="en-US"/>
          </a:p>
        </p:txBody>
      </p:sp>
      <p:sp>
        <p:nvSpPr>
          <p:cNvPr id="15" name="Text 12"/>
          <p:cNvSpPr/>
          <p:nvPr/>
        </p:nvSpPr>
        <p:spPr>
          <a:xfrm>
            <a:off x="6858000" y="3968496"/>
            <a:ext cx="1828800" cy="228600"/>
          </a:xfrm>
          <a:prstGeom prst="rect">
            <a:avLst/>
          </a:prstGeom>
          <a:noFill/>
          <a:ln/>
        </p:spPr>
        <p:txBody>
          <a:bodyPr wrap="square" lIns="0" tIns="0" rIns="0" bIns="0" rtlCol="0" anchor="ctr"/>
          <a:lstStyle/>
          <a:p>
            <a:pPr marL="0" indent="0">
              <a:buNone/>
            </a:pPr>
            <a:r>
              <a:rPr lang="en-US" sz="1000" dirty="0">
                <a:solidFill>
                  <a:srgbClr val="3A4555"/>
                </a:solidFill>
                <a:latin typeface="Calibri" pitchFamily="34" charset="0"/>
                <a:ea typeface="Calibri" pitchFamily="34" charset="-122"/>
                <a:cs typeface="Calibri" pitchFamily="34" charset="-120"/>
              </a:rPr>
              <a:t>Product / Purpose</a:t>
            </a:r>
            <a:endParaRPr lang="en-US" sz="1000" dirty="0"/>
          </a:p>
        </p:txBody>
      </p:sp>
      <p:sp>
        <p:nvSpPr>
          <p:cNvPr id="16" name="Text 13"/>
          <p:cNvSpPr/>
          <p:nvPr/>
        </p:nvSpPr>
        <p:spPr>
          <a:xfrm>
            <a:off x="457200" y="4754880"/>
            <a:ext cx="3657600" cy="320040"/>
          </a:xfrm>
          <a:prstGeom prst="rect">
            <a:avLst/>
          </a:prstGeom>
          <a:noFill/>
          <a:ln/>
        </p:spPr>
        <p:txBody>
          <a:bodyPr wrap="square" rtlCol="0" anchor="ctr"/>
          <a:lstStyle/>
          <a:p>
            <a:r>
              <a:rPr lang="en-US" sz="900" dirty="0">
                <a:latin typeface="Calibri" pitchFamily="34" charset="0"/>
                <a:ea typeface="Calibri" pitchFamily="34" charset="-122"/>
                <a:cs typeface="Calibri" pitchFamily="34" charset="-120"/>
              </a:rPr>
              <a:t>The University of Chicago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28600"/>
            <a:ext cx="8046720" cy="457200"/>
          </a:xfrm>
          <a:prstGeom prst="rect">
            <a:avLst/>
          </a:prstGeom>
          <a:noFill/>
          <a:ln/>
        </p:spPr>
        <p:txBody>
          <a:bodyPr wrap="square" rtlCol="0" anchor="ctr"/>
          <a:lstStyle/>
          <a:p>
            <a:pPr marL="0" indent="0">
              <a:buNone/>
            </a:pPr>
            <a:r>
              <a:rPr lang="en-US" sz="2600" b="1" dirty="0">
                <a:solidFill>
                  <a:srgbClr val="1A2332"/>
                </a:solidFill>
                <a:latin typeface="Georgia" pitchFamily="34" charset="0"/>
                <a:ea typeface="Georgia" pitchFamily="34" charset="-122"/>
                <a:cs typeface="Georgia" pitchFamily="34" charset="-120"/>
              </a:rPr>
              <a:t>Backtest Results — 24 Months</a:t>
            </a:r>
            <a:endParaRPr lang="en-US" sz="2600" dirty="0"/>
          </a:p>
        </p:txBody>
      </p:sp>
      <p:sp>
        <p:nvSpPr>
          <p:cNvPr id="3" name="Shape 1"/>
          <p:cNvSpPr/>
          <p:nvPr/>
        </p:nvSpPr>
        <p:spPr>
          <a:xfrm>
            <a:off x="548640" y="777240"/>
            <a:ext cx="256032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4" name="Shape 2"/>
          <p:cNvSpPr/>
          <p:nvPr/>
        </p:nvSpPr>
        <p:spPr>
          <a:xfrm>
            <a:off x="548640" y="777240"/>
            <a:ext cx="2560320" cy="54864"/>
          </a:xfrm>
          <a:prstGeom prst="rect">
            <a:avLst/>
          </a:prstGeom>
          <a:solidFill>
            <a:srgbClr val="E8913A"/>
          </a:solidFill>
          <a:ln/>
        </p:spPr>
        <p:txBody>
          <a:bodyPr/>
          <a:lstStyle/>
          <a:p>
            <a:endParaRPr lang="en-US"/>
          </a:p>
        </p:txBody>
      </p:sp>
      <p:sp>
        <p:nvSpPr>
          <p:cNvPr id="5" name="Text 3"/>
          <p:cNvSpPr/>
          <p:nvPr/>
        </p:nvSpPr>
        <p:spPr>
          <a:xfrm>
            <a:off x="548640" y="822960"/>
            <a:ext cx="2560320" cy="457200"/>
          </a:xfrm>
          <a:prstGeom prst="rect">
            <a:avLst/>
          </a:prstGeom>
          <a:noFill/>
          <a:ln/>
        </p:spPr>
        <p:txBody>
          <a:bodyPr wrap="square" rtlCol="0" anchor="ctr"/>
          <a:lstStyle/>
          <a:p>
            <a:pPr marL="0" indent="0" algn="ctr">
              <a:buNone/>
            </a:pPr>
            <a:r>
              <a:rPr lang="en-US" sz="2800" b="1" dirty="0">
                <a:solidFill>
                  <a:srgbClr val="E8913A"/>
                </a:solidFill>
                <a:latin typeface="Georgia" pitchFamily="34" charset="0"/>
                <a:ea typeface="Georgia" pitchFamily="34" charset="-122"/>
                <a:cs typeface="Georgia" pitchFamily="34" charset="-120"/>
              </a:rPr>
              <a:t>4.8%</a:t>
            </a:r>
            <a:endParaRPr lang="en-US" sz="2800" dirty="0"/>
          </a:p>
        </p:txBody>
      </p:sp>
      <p:sp>
        <p:nvSpPr>
          <p:cNvPr id="6" name="Text 4"/>
          <p:cNvSpPr/>
          <p:nvPr/>
        </p:nvSpPr>
        <p:spPr>
          <a:xfrm>
            <a:off x="548640" y="1234440"/>
            <a:ext cx="2560320" cy="228600"/>
          </a:xfrm>
          <a:prstGeom prst="rect">
            <a:avLst/>
          </a:prstGeom>
          <a:noFill/>
          <a:ln/>
        </p:spPr>
        <p:txBody>
          <a:bodyPr wrap="square" rtlCol="0" anchor="ctr"/>
          <a:lstStyle/>
          <a:p>
            <a:pPr marL="0" indent="0" algn="ctr">
              <a:buNone/>
            </a:pPr>
            <a:r>
              <a:rPr lang="en-US" sz="1100" b="1" dirty="0">
                <a:solidFill>
                  <a:srgbClr val="1A2332"/>
                </a:solidFill>
                <a:latin typeface="Calibri" pitchFamily="34" charset="0"/>
                <a:ea typeface="Calibri" pitchFamily="34" charset="-122"/>
                <a:cs typeface="Calibri" pitchFamily="34" charset="-120"/>
              </a:rPr>
              <a:t>Mid-Month MAPE</a:t>
            </a:r>
            <a:endParaRPr lang="en-US" sz="1100" dirty="0"/>
          </a:p>
        </p:txBody>
      </p:sp>
      <p:sp>
        <p:nvSpPr>
          <p:cNvPr id="7" name="Text 5"/>
          <p:cNvSpPr/>
          <p:nvPr/>
        </p:nvSpPr>
        <p:spPr>
          <a:xfrm>
            <a:off x="548640" y="1417320"/>
            <a:ext cx="2560320" cy="228600"/>
          </a:xfrm>
          <a:prstGeom prst="rect">
            <a:avLst/>
          </a:prstGeom>
          <a:noFill/>
          <a:ln/>
        </p:spPr>
        <p:txBody>
          <a:bodyPr wrap="square" rtlCol="0" anchor="ctr"/>
          <a:lstStyle/>
          <a:p>
            <a:pPr marL="0" indent="0" algn="ctr">
              <a:buNone/>
            </a:pPr>
            <a:r>
              <a:rPr lang="en-US" sz="950" dirty="0">
                <a:solidFill>
                  <a:srgbClr val="8B95A5"/>
                </a:solidFill>
                <a:latin typeface="Calibri" pitchFamily="34" charset="0"/>
                <a:ea typeface="Calibri" pitchFamily="34" charset="-122"/>
                <a:cs typeface="Calibri" pitchFamily="34" charset="-120"/>
              </a:rPr>
              <a:t>v2 with locks (day 15)</a:t>
            </a:r>
            <a:endParaRPr lang="en-US" sz="950" dirty="0"/>
          </a:p>
        </p:txBody>
      </p:sp>
      <p:sp>
        <p:nvSpPr>
          <p:cNvPr id="8" name="Shape 6"/>
          <p:cNvSpPr/>
          <p:nvPr/>
        </p:nvSpPr>
        <p:spPr>
          <a:xfrm>
            <a:off x="3383280" y="777240"/>
            <a:ext cx="256032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3383280" y="777240"/>
            <a:ext cx="2560320" cy="54864"/>
          </a:xfrm>
          <a:prstGeom prst="rect">
            <a:avLst/>
          </a:prstGeom>
          <a:solidFill>
            <a:srgbClr val="4A90D9"/>
          </a:solidFill>
          <a:ln/>
        </p:spPr>
        <p:txBody>
          <a:bodyPr/>
          <a:lstStyle/>
          <a:p>
            <a:endParaRPr lang="en-US"/>
          </a:p>
        </p:txBody>
      </p:sp>
      <p:sp>
        <p:nvSpPr>
          <p:cNvPr id="10" name="Text 8"/>
          <p:cNvSpPr/>
          <p:nvPr/>
        </p:nvSpPr>
        <p:spPr>
          <a:xfrm>
            <a:off x="3383280" y="822960"/>
            <a:ext cx="2560320" cy="457200"/>
          </a:xfrm>
          <a:prstGeom prst="rect">
            <a:avLst/>
          </a:prstGeom>
          <a:noFill/>
          <a:ln/>
        </p:spPr>
        <p:txBody>
          <a:bodyPr wrap="square" rtlCol="0" anchor="ctr"/>
          <a:lstStyle/>
          <a:p>
            <a:pPr marL="0" indent="0" algn="ctr">
              <a:buNone/>
            </a:pPr>
            <a:r>
              <a:rPr lang="en-US" sz="2800" b="1" dirty="0">
                <a:solidFill>
                  <a:srgbClr val="4A90D9"/>
                </a:solidFill>
                <a:latin typeface="Georgia" pitchFamily="34" charset="0"/>
                <a:ea typeface="Georgia" pitchFamily="34" charset="-122"/>
                <a:cs typeface="Georgia" pitchFamily="34" charset="-120"/>
              </a:rPr>
              <a:t>23/24</a:t>
            </a:r>
            <a:endParaRPr lang="en-US" sz="2800" dirty="0"/>
          </a:p>
        </p:txBody>
      </p:sp>
      <p:sp>
        <p:nvSpPr>
          <p:cNvPr id="11" name="Text 9"/>
          <p:cNvSpPr/>
          <p:nvPr/>
        </p:nvSpPr>
        <p:spPr>
          <a:xfrm>
            <a:off x="3383280" y="1234440"/>
            <a:ext cx="2560320" cy="228600"/>
          </a:xfrm>
          <a:prstGeom prst="rect">
            <a:avLst/>
          </a:prstGeom>
          <a:noFill/>
          <a:ln/>
        </p:spPr>
        <p:txBody>
          <a:bodyPr wrap="square" rtlCol="0" anchor="ctr"/>
          <a:lstStyle/>
          <a:p>
            <a:pPr marL="0" indent="0" algn="ctr">
              <a:buNone/>
            </a:pPr>
            <a:r>
              <a:rPr lang="en-US" sz="1100" b="1" dirty="0">
                <a:solidFill>
                  <a:srgbClr val="1A2332"/>
                </a:solidFill>
                <a:latin typeface="Calibri" pitchFamily="34" charset="0"/>
                <a:ea typeface="Calibri" pitchFamily="34" charset="-122"/>
                <a:cs typeface="Calibri" pitchFamily="34" charset="-120"/>
              </a:rPr>
              <a:t>Months Within 10%</a:t>
            </a:r>
            <a:endParaRPr lang="en-US" sz="1100" dirty="0"/>
          </a:p>
        </p:txBody>
      </p:sp>
      <p:sp>
        <p:nvSpPr>
          <p:cNvPr id="12" name="Text 10"/>
          <p:cNvSpPr/>
          <p:nvPr/>
        </p:nvSpPr>
        <p:spPr>
          <a:xfrm>
            <a:off x="3383280" y="1417320"/>
            <a:ext cx="2560320" cy="228600"/>
          </a:xfrm>
          <a:prstGeom prst="rect">
            <a:avLst/>
          </a:prstGeom>
          <a:noFill/>
          <a:ln/>
        </p:spPr>
        <p:txBody>
          <a:bodyPr wrap="square" rtlCol="0" anchor="ctr"/>
          <a:lstStyle/>
          <a:p>
            <a:pPr marL="0" indent="0" algn="ctr">
              <a:buNone/>
            </a:pPr>
            <a:r>
              <a:rPr lang="en-US" sz="950" dirty="0">
                <a:solidFill>
                  <a:srgbClr val="8B95A5"/>
                </a:solidFill>
                <a:latin typeface="Calibri" pitchFamily="34" charset="0"/>
                <a:ea typeface="Calibri" pitchFamily="34" charset="-122"/>
                <a:cs typeface="Calibri" pitchFamily="34" charset="-120"/>
              </a:rPr>
              <a:t>up from 18/24 in v1</a:t>
            </a:r>
            <a:endParaRPr lang="en-US" sz="950" dirty="0"/>
          </a:p>
        </p:txBody>
      </p:sp>
      <p:sp>
        <p:nvSpPr>
          <p:cNvPr id="13" name="Shape 11"/>
          <p:cNvSpPr/>
          <p:nvPr/>
        </p:nvSpPr>
        <p:spPr>
          <a:xfrm>
            <a:off x="6217920" y="777240"/>
            <a:ext cx="256032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6217920" y="777240"/>
            <a:ext cx="2560320" cy="54864"/>
          </a:xfrm>
          <a:prstGeom prst="rect">
            <a:avLst/>
          </a:prstGeom>
          <a:solidFill>
            <a:srgbClr val="3DAA7F"/>
          </a:solidFill>
          <a:ln/>
        </p:spPr>
        <p:txBody>
          <a:bodyPr/>
          <a:lstStyle/>
          <a:p>
            <a:endParaRPr lang="en-US"/>
          </a:p>
        </p:txBody>
      </p:sp>
      <p:sp>
        <p:nvSpPr>
          <p:cNvPr id="15" name="Text 13"/>
          <p:cNvSpPr/>
          <p:nvPr/>
        </p:nvSpPr>
        <p:spPr>
          <a:xfrm>
            <a:off x="6217920" y="822960"/>
            <a:ext cx="2560320" cy="457200"/>
          </a:xfrm>
          <a:prstGeom prst="rect">
            <a:avLst/>
          </a:prstGeom>
          <a:noFill/>
          <a:ln/>
        </p:spPr>
        <p:txBody>
          <a:bodyPr wrap="square" rtlCol="0" anchor="ctr"/>
          <a:lstStyle/>
          <a:p>
            <a:pPr marL="0" indent="0" algn="ctr">
              <a:buNone/>
            </a:pPr>
            <a:r>
              <a:rPr lang="en-US" sz="2800" b="1" dirty="0">
                <a:solidFill>
                  <a:srgbClr val="3DAA7F"/>
                </a:solidFill>
                <a:latin typeface="Georgia" pitchFamily="34" charset="0"/>
                <a:ea typeface="Georgia" pitchFamily="34" charset="-122"/>
                <a:cs typeface="Georgia" pitchFamily="34" charset="-120"/>
              </a:rPr>
              <a:t>25%</a:t>
            </a:r>
            <a:endParaRPr lang="en-US" sz="2800" dirty="0"/>
          </a:p>
        </p:txBody>
      </p:sp>
      <p:sp>
        <p:nvSpPr>
          <p:cNvPr id="16" name="Text 14"/>
          <p:cNvSpPr/>
          <p:nvPr/>
        </p:nvSpPr>
        <p:spPr>
          <a:xfrm>
            <a:off x="6217920" y="1234440"/>
            <a:ext cx="2560320" cy="228600"/>
          </a:xfrm>
          <a:prstGeom prst="rect">
            <a:avLst/>
          </a:prstGeom>
          <a:noFill/>
          <a:ln/>
        </p:spPr>
        <p:txBody>
          <a:bodyPr wrap="square" rtlCol="0" anchor="ctr"/>
          <a:lstStyle/>
          <a:p>
            <a:pPr marL="0" indent="0" algn="ctr">
              <a:buNone/>
            </a:pPr>
            <a:r>
              <a:rPr lang="en-US" sz="1100" b="1" dirty="0">
                <a:solidFill>
                  <a:srgbClr val="1A2332"/>
                </a:solidFill>
                <a:latin typeface="Calibri" pitchFamily="34" charset="0"/>
                <a:ea typeface="Calibri" pitchFamily="34" charset="-122"/>
                <a:cs typeface="Calibri" pitchFamily="34" charset="-120"/>
              </a:rPr>
              <a:t>MAPE Reduction</a:t>
            </a:r>
            <a:endParaRPr lang="en-US" sz="1100" dirty="0"/>
          </a:p>
        </p:txBody>
      </p:sp>
      <p:sp>
        <p:nvSpPr>
          <p:cNvPr id="17" name="Text 15"/>
          <p:cNvSpPr/>
          <p:nvPr/>
        </p:nvSpPr>
        <p:spPr>
          <a:xfrm>
            <a:off x="6217920" y="1417320"/>
            <a:ext cx="2560320" cy="228600"/>
          </a:xfrm>
          <a:prstGeom prst="rect">
            <a:avLst/>
          </a:prstGeom>
          <a:noFill/>
          <a:ln/>
        </p:spPr>
        <p:txBody>
          <a:bodyPr wrap="square" rtlCol="0" anchor="ctr"/>
          <a:lstStyle/>
          <a:p>
            <a:pPr marL="0" indent="0" algn="ctr">
              <a:buNone/>
            </a:pPr>
            <a:r>
              <a:rPr lang="en-US" sz="950" dirty="0">
                <a:solidFill>
                  <a:srgbClr val="8B95A5"/>
                </a:solidFill>
                <a:latin typeface="Calibri" pitchFamily="34" charset="0"/>
                <a:ea typeface="Calibri" pitchFamily="34" charset="-122"/>
                <a:cs typeface="Calibri" pitchFamily="34" charset="-120"/>
              </a:rPr>
              <a:t>6.4% → 4.8% vs v1</a:t>
            </a:r>
            <a:endParaRPr lang="en-US" sz="950" dirty="0"/>
          </a:p>
        </p:txBody>
      </p:sp>
      <p:pic>
        <p:nvPicPr>
          <p:cNvPr id="18" name="Image 0" descr="/home/claude/v2_backtest_projected_vs_actual.png"/>
          <p:cNvPicPr>
            <a:picLocks noChangeAspect="1"/>
          </p:cNvPicPr>
          <p:nvPr/>
        </p:nvPicPr>
        <p:blipFill>
          <a:blip r:embed="rId3"/>
          <a:stretch>
            <a:fillRect/>
          </a:stretch>
        </p:blipFill>
        <p:spPr>
          <a:xfrm>
            <a:off x="182880" y="1874520"/>
            <a:ext cx="8778240" cy="2651760"/>
          </a:xfrm>
          <a:prstGeom prst="rect">
            <a:avLst/>
          </a:prstGeom>
        </p:spPr>
      </p:pic>
      <p:sp>
        <p:nvSpPr>
          <p:cNvPr id="19" name="Text 16"/>
          <p:cNvSpPr/>
          <p:nvPr/>
        </p:nvSpPr>
        <p:spPr>
          <a:xfrm>
            <a:off x="457200" y="4754880"/>
            <a:ext cx="3657600" cy="320040"/>
          </a:xfrm>
          <a:prstGeom prst="rect">
            <a:avLst/>
          </a:prstGeom>
          <a:noFill/>
          <a:ln/>
        </p:spPr>
        <p:txBody>
          <a:bodyPr wrap="square" rtlCol="0" anchor="ctr"/>
          <a:lstStyle/>
          <a:p>
            <a:r>
              <a:rPr lang="en-US" sz="900" dirty="0">
                <a:latin typeface="Calibri" pitchFamily="34" charset="0"/>
                <a:ea typeface="Calibri" pitchFamily="34" charset="-122"/>
                <a:cs typeface="Calibri" pitchFamily="34" charset="-120"/>
              </a:rPr>
              <a:t>The University of Chicago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rtlCol="0" anchor="ctr"/>
          <a:lstStyle/>
          <a:p>
            <a:pPr marL="0" indent="0">
              <a:buNone/>
            </a:pPr>
            <a:r>
              <a:rPr lang="en-US" sz="2600" b="1" dirty="0">
                <a:solidFill>
                  <a:srgbClr val="1A2332"/>
                </a:solidFill>
                <a:latin typeface="Georgia" pitchFamily="34" charset="0"/>
                <a:ea typeface="Georgia" pitchFamily="34" charset="-122"/>
                <a:cs typeface="Georgia" pitchFamily="34" charset="-120"/>
              </a:rPr>
              <a:t>Nov/Dec 2025 — The Weak Spot, Fixed</a:t>
            </a:r>
            <a:endParaRPr lang="en-US" sz="2600" dirty="0"/>
          </a:p>
        </p:txBody>
      </p:sp>
      <p:pic>
        <p:nvPicPr>
          <p:cNvPr id="3" name="Image 0" descr="/home/claude/v2_nov_dec_improvement.png"/>
          <p:cNvPicPr>
            <a:picLocks noChangeAspect="1"/>
          </p:cNvPicPr>
          <p:nvPr/>
        </p:nvPicPr>
        <p:blipFill>
          <a:blip r:embed="rId3"/>
          <a:stretch>
            <a:fillRect/>
          </a:stretch>
        </p:blipFill>
        <p:spPr>
          <a:xfrm>
            <a:off x="274320" y="868680"/>
            <a:ext cx="5303520" cy="3291840"/>
          </a:xfrm>
          <a:prstGeom prst="rect">
            <a:avLst/>
          </a:prstGeom>
        </p:spPr>
      </p:pic>
      <p:sp>
        <p:nvSpPr>
          <p:cNvPr id="4" name="Shape 1"/>
          <p:cNvSpPr/>
          <p:nvPr/>
        </p:nvSpPr>
        <p:spPr>
          <a:xfrm>
            <a:off x="5760720" y="914400"/>
            <a:ext cx="3108960" cy="3246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2"/>
          <p:cNvSpPr/>
          <p:nvPr/>
        </p:nvSpPr>
        <p:spPr>
          <a:xfrm>
            <a:off x="5760720" y="914400"/>
            <a:ext cx="3108960" cy="54864"/>
          </a:xfrm>
          <a:prstGeom prst="rect">
            <a:avLst/>
          </a:prstGeom>
          <a:solidFill>
            <a:srgbClr val="3DAA7F"/>
          </a:solidFill>
          <a:ln/>
        </p:spPr>
        <p:txBody>
          <a:bodyPr/>
          <a:lstStyle/>
          <a:p>
            <a:endParaRPr lang="en-US"/>
          </a:p>
        </p:txBody>
      </p:sp>
      <p:sp>
        <p:nvSpPr>
          <p:cNvPr id="6" name="Text 3"/>
          <p:cNvSpPr/>
          <p:nvPr/>
        </p:nvSpPr>
        <p:spPr>
          <a:xfrm>
            <a:off x="5943600" y="1051560"/>
            <a:ext cx="2743200" cy="320040"/>
          </a:xfrm>
          <a:prstGeom prst="rect">
            <a:avLst/>
          </a:prstGeom>
          <a:noFill/>
          <a:ln/>
        </p:spPr>
        <p:txBody>
          <a:bodyPr wrap="square" rtlCol="0" anchor="ctr"/>
          <a:lstStyle/>
          <a:p>
            <a:pPr marL="0" indent="0">
              <a:buNone/>
            </a:pPr>
            <a:r>
              <a:rPr lang="en-US" sz="1400" b="1" dirty="0">
                <a:solidFill>
                  <a:srgbClr val="1A2332"/>
                </a:solidFill>
                <a:latin typeface="Calibri" pitchFamily="34" charset="0"/>
                <a:ea typeface="Calibri" pitchFamily="34" charset="-122"/>
                <a:cs typeface="Calibri" pitchFamily="34" charset="-120"/>
              </a:rPr>
              <a:t>Rolling Window Wins</a:t>
            </a:r>
            <a:endParaRPr lang="en-US" sz="1400" dirty="0"/>
          </a:p>
        </p:txBody>
      </p:sp>
      <p:sp>
        <p:nvSpPr>
          <p:cNvPr id="7" name="Text 4"/>
          <p:cNvSpPr/>
          <p:nvPr/>
        </p:nvSpPr>
        <p:spPr>
          <a:xfrm>
            <a:off x="5943600" y="1417320"/>
            <a:ext cx="2743200" cy="2560320"/>
          </a:xfrm>
          <a:prstGeom prst="rect">
            <a:avLst/>
          </a:prstGeom>
          <a:noFill/>
          <a:ln/>
        </p:spPr>
        <p:txBody>
          <a:bodyPr wrap="square" rtlCol="0" anchor="t"/>
          <a:lstStyle/>
          <a:p>
            <a:pPr marL="0" indent="0">
              <a:buNone/>
            </a:pPr>
            <a:r>
              <a:rPr lang="en-US" sz="1200" b="1" dirty="0">
                <a:solidFill>
                  <a:srgbClr val="1A2332"/>
                </a:solidFill>
                <a:latin typeface="Calibri" pitchFamily="34" charset="0"/>
                <a:ea typeface="Calibri" pitchFamily="34" charset="-122"/>
                <a:cs typeface="Calibri" pitchFamily="34" charset="-120"/>
              </a:rPr>
              <a:t>November 2025</a:t>
            </a:r>
            <a:endParaRPr lang="en-US" sz="1200" dirty="0"/>
          </a:p>
          <a:p>
            <a:pPr marL="0" indent="0">
              <a:buNone/>
            </a:pPr>
            <a:r>
              <a:rPr lang="en-US" sz="1100" dirty="0">
                <a:solidFill>
                  <a:srgbClr val="3A4555"/>
                </a:solidFill>
                <a:latin typeface="Calibri" pitchFamily="34" charset="0"/>
                <a:ea typeface="Calibri" pitchFamily="34" charset="-122"/>
                <a:cs typeface="Calibri" pitchFamily="34" charset="-120"/>
              </a:rPr>
              <a:t>v1: +28.1%  →  v2 rolling: +12.7%</a:t>
            </a:r>
            <a:endParaRPr lang="en-US" sz="1200" dirty="0"/>
          </a:p>
          <a:p>
            <a:pPr marL="0" indent="0">
              <a:buNone/>
            </a:pPr>
            <a:r>
              <a:rPr lang="en-US" sz="1000" dirty="0">
                <a:solidFill>
                  <a:srgbClr val="8B95A5"/>
                </a:solidFill>
                <a:latin typeface="Calibri" pitchFamily="34" charset="0"/>
                <a:ea typeface="Calibri" pitchFamily="34" charset="-122"/>
                <a:cs typeface="Calibri" pitchFamily="34" charset="-120"/>
              </a:rPr>
              <a:t>Error cut by more than half</a:t>
            </a:r>
            <a:endParaRPr lang="en-US" sz="1200" dirty="0"/>
          </a:p>
          <a:p>
            <a:pPr marL="0" indent="0">
              <a:buNone/>
            </a:pPr>
            <a:endParaRPr lang="en-US" sz="1200" dirty="0"/>
          </a:p>
          <a:p>
            <a:pPr marL="0" indent="0">
              <a:buNone/>
            </a:pPr>
            <a:r>
              <a:rPr lang="en-US" sz="1200" b="1" dirty="0">
                <a:solidFill>
                  <a:srgbClr val="1A2332"/>
                </a:solidFill>
                <a:latin typeface="Calibri" pitchFamily="34" charset="0"/>
                <a:ea typeface="Calibri" pitchFamily="34" charset="-122"/>
                <a:cs typeface="Calibri" pitchFamily="34" charset="-120"/>
              </a:rPr>
              <a:t>December 2025</a:t>
            </a:r>
            <a:endParaRPr lang="en-US" sz="1200" dirty="0"/>
          </a:p>
          <a:p>
            <a:pPr marL="0" indent="0">
              <a:buNone/>
            </a:pPr>
            <a:r>
              <a:rPr lang="en-US" sz="1100" dirty="0">
                <a:solidFill>
                  <a:srgbClr val="3A4555"/>
                </a:solidFill>
                <a:latin typeface="Calibri" pitchFamily="34" charset="0"/>
                <a:ea typeface="Calibri" pitchFamily="34" charset="-122"/>
                <a:cs typeface="Calibri" pitchFamily="34" charset="-120"/>
              </a:rPr>
              <a:t>v1: +15.5%  →  v2 rolling: +6.0%</a:t>
            </a:r>
            <a:endParaRPr lang="en-US" sz="1200" dirty="0"/>
          </a:p>
          <a:p>
            <a:pPr marL="0" indent="0">
              <a:buNone/>
            </a:pPr>
            <a:r>
              <a:rPr lang="en-US" sz="1000" dirty="0">
                <a:solidFill>
                  <a:srgbClr val="3DAA7F"/>
                </a:solidFill>
                <a:latin typeface="Calibri" pitchFamily="34" charset="0"/>
                <a:ea typeface="Calibri" pitchFamily="34" charset="-122"/>
                <a:cs typeface="Calibri" pitchFamily="34" charset="-120"/>
              </a:rPr>
              <a:t>Now inside the 10% target</a:t>
            </a:r>
            <a:endParaRPr lang="en-US" sz="1200" dirty="0"/>
          </a:p>
          <a:p>
            <a:pPr marL="0" indent="0">
              <a:buNone/>
            </a:pPr>
            <a:endParaRPr lang="en-US" sz="1200" dirty="0"/>
          </a:p>
          <a:p>
            <a:pPr marL="0" indent="0">
              <a:buNone/>
            </a:pPr>
            <a:r>
              <a:rPr lang="en-US" sz="1050" dirty="0">
                <a:solidFill>
                  <a:srgbClr val="3A4555"/>
                </a:solidFill>
                <a:latin typeface="Calibri" pitchFamily="34" charset="0"/>
                <a:ea typeface="Calibri" pitchFamily="34" charset="-122"/>
                <a:cs typeface="Calibri" pitchFamily="34" charset="-120"/>
              </a:rPr>
              <a:t>The rolling window trains on the most recent 12 months, so it had seen the higher volumes from mid-2025. This improvement is independent of the lock question.</a:t>
            </a:r>
            <a:endParaRPr lang="en-US" sz="1200" dirty="0"/>
          </a:p>
        </p:txBody>
      </p:sp>
      <p:sp>
        <p:nvSpPr>
          <p:cNvPr id="8" name="Text 5"/>
          <p:cNvSpPr/>
          <p:nvPr/>
        </p:nvSpPr>
        <p:spPr>
          <a:xfrm>
            <a:off x="457200" y="4754880"/>
            <a:ext cx="3657600" cy="320040"/>
          </a:xfrm>
          <a:prstGeom prst="rect">
            <a:avLst/>
          </a:prstGeom>
          <a:noFill/>
          <a:ln/>
        </p:spPr>
        <p:txBody>
          <a:bodyPr wrap="square" rtlCol="0" anchor="ctr"/>
          <a:lstStyle/>
          <a:p>
            <a:r>
              <a:rPr lang="en-US" sz="900" dirty="0">
                <a:latin typeface="Calibri" pitchFamily="34" charset="0"/>
                <a:ea typeface="Calibri" pitchFamily="34" charset="-122"/>
                <a:cs typeface="Calibri" pitchFamily="34" charset="-120"/>
              </a:rPr>
              <a:t>The University of Chicago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rtlCol="0" anchor="ctr"/>
          <a:lstStyle/>
          <a:p>
            <a:pPr marL="0" indent="0">
              <a:buNone/>
            </a:pPr>
            <a:r>
              <a:rPr lang="en-US" sz="2600" b="1" dirty="0">
                <a:solidFill>
                  <a:srgbClr val="1A2332"/>
                </a:solidFill>
                <a:latin typeface="Georgia" pitchFamily="34" charset="0"/>
                <a:ea typeface="Georgia" pitchFamily="34" charset="-122"/>
                <a:cs typeface="Georgia" pitchFamily="34" charset="-120"/>
              </a:rPr>
              <a:t>Accuracy by Snapshot Day</a:t>
            </a:r>
            <a:endParaRPr lang="en-US" sz="2600" dirty="0"/>
          </a:p>
        </p:txBody>
      </p:sp>
      <p:pic>
        <p:nvPicPr>
          <p:cNvPr id="3" name="Image 0" descr="/home/claude/v2_mape_by_snapshot_day.png"/>
          <p:cNvPicPr>
            <a:picLocks noChangeAspect="1"/>
          </p:cNvPicPr>
          <p:nvPr/>
        </p:nvPicPr>
        <p:blipFill>
          <a:blip r:embed="rId3"/>
          <a:stretch>
            <a:fillRect/>
          </a:stretch>
        </p:blipFill>
        <p:spPr>
          <a:xfrm>
            <a:off x="274320" y="868680"/>
            <a:ext cx="5669280" cy="3291840"/>
          </a:xfrm>
          <a:prstGeom prst="rect">
            <a:avLst/>
          </a:prstGeom>
        </p:spPr>
      </p:pic>
      <p:sp>
        <p:nvSpPr>
          <p:cNvPr id="4" name="Shape 1"/>
          <p:cNvSpPr/>
          <p:nvPr/>
        </p:nvSpPr>
        <p:spPr>
          <a:xfrm>
            <a:off x="6126480" y="914400"/>
            <a:ext cx="2743200" cy="3246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2"/>
          <p:cNvSpPr/>
          <p:nvPr/>
        </p:nvSpPr>
        <p:spPr>
          <a:xfrm>
            <a:off x="6126480" y="914400"/>
            <a:ext cx="2743200" cy="54864"/>
          </a:xfrm>
          <a:prstGeom prst="rect">
            <a:avLst/>
          </a:prstGeom>
          <a:solidFill>
            <a:srgbClr val="4A90D9"/>
          </a:solidFill>
          <a:ln/>
        </p:spPr>
        <p:txBody>
          <a:bodyPr/>
          <a:lstStyle/>
          <a:p>
            <a:endParaRPr lang="en-US"/>
          </a:p>
        </p:txBody>
      </p:sp>
      <p:sp>
        <p:nvSpPr>
          <p:cNvPr id="6" name="Text 3"/>
          <p:cNvSpPr/>
          <p:nvPr/>
        </p:nvSpPr>
        <p:spPr>
          <a:xfrm>
            <a:off x="6309360" y="1051560"/>
            <a:ext cx="2377440" cy="320040"/>
          </a:xfrm>
          <a:prstGeom prst="rect">
            <a:avLst/>
          </a:prstGeom>
          <a:noFill/>
          <a:ln/>
        </p:spPr>
        <p:txBody>
          <a:bodyPr wrap="square" rtlCol="0" anchor="ctr"/>
          <a:lstStyle/>
          <a:p>
            <a:pPr marL="0" indent="0">
              <a:buNone/>
            </a:pPr>
            <a:r>
              <a:rPr lang="en-US" sz="1400" b="1" dirty="0">
                <a:solidFill>
                  <a:srgbClr val="1A2332"/>
                </a:solidFill>
                <a:latin typeface="Calibri" pitchFamily="34" charset="0"/>
                <a:ea typeface="Calibri" pitchFamily="34" charset="-122"/>
                <a:cs typeface="Calibri" pitchFamily="34" charset="-120"/>
              </a:rPr>
              <a:t>Reading the Chart</a:t>
            </a:r>
            <a:endParaRPr lang="en-US" sz="1400" dirty="0"/>
          </a:p>
        </p:txBody>
      </p:sp>
      <p:sp>
        <p:nvSpPr>
          <p:cNvPr id="7" name="Text 4"/>
          <p:cNvSpPr/>
          <p:nvPr/>
        </p:nvSpPr>
        <p:spPr>
          <a:xfrm>
            <a:off x="6309360" y="1417320"/>
            <a:ext cx="2377440" cy="2743200"/>
          </a:xfrm>
          <a:prstGeom prst="rect">
            <a:avLst/>
          </a:prstGeom>
          <a:noFill/>
          <a:ln/>
        </p:spPr>
        <p:txBody>
          <a:bodyPr wrap="square" rtlCol="0" anchor="t"/>
          <a:lstStyle/>
          <a:p>
            <a:pPr marL="0" indent="0">
              <a:buNone/>
            </a:pPr>
            <a:r>
              <a:rPr lang="en-US" sz="1200" b="1" dirty="0">
                <a:solidFill>
                  <a:srgbClr val="1A2332"/>
                </a:solidFill>
                <a:latin typeface="Calibri" pitchFamily="34" charset="0"/>
                <a:ea typeface="Calibri" pitchFamily="34" charset="-122"/>
                <a:cs typeface="Calibri" pitchFamily="34" charset="-120"/>
              </a:rPr>
              <a:t>Day 0</a:t>
            </a:r>
            <a:endParaRPr lang="en-US" sz="1200" dirty="0"/>
          </a:p>
          <a:p>
            <a:pPr marL="0" indent="0">
              <a:buNone/>
            </a:pPr>
            <a:r>
              <a:rPr lang="en-US" sz="1050" dirty="0">
                <a:solidFill>
                  <a:srgbClr val="3A4555"/>
                </a:solidFill>
                <a:latin typeface="Calibri" pitchFamily="34" charset="0"/>
                <a:ea typeface="Calibri" pitchFamily="34" charset="-122"/>
                <a:cs typeface="Calibri" pitchFamily="34" charset="-120"/>
              </a:rPr>
              <a:t>Prior month-end. Full month projected. ~17% error — directional read.</a:t>
            </a:r>
            <a:endParaRPr lang="en-US" sz="1200" dirty="0"/>
          </a:p>
          <a:p>
            <a:pPr marL="0" indent="0">
              <a:buNone/>
            </a:pPr>
            <a:endParaRPr lang="en-US" sz="1200" dirty="0"/>
          </a:p>
          <a:p>
            <a:pPr marL="0" indent="0">
              <a:buNone/>
            </a:pPr>
            <a:r>
              <a:rPr lang="en-US" sz="1200" b="1" dirty="0">
                <a:solidFill>
                  <a:srgbClr val="1A2332"/>
                </a:solidFill>
                <a:latin typeface="Calibri" pitchFamily="34" charset="0"/>
                <a:ea typeface="Calibri" pitchFamily="34" charset="-122"/>
                <a:cs typeface="Calibri" pitchFamily="34" charset="-120"/>
              </a:rPr>
              <a:t>Day 8</a:t>
            </a:r>
            <a:endParaRPr lang="en-US" sz="1200" dirty="0"/>
          </a:p>
          <a:p>
            <a:pPr marL="0" indent="0">
              <a:buNone/>
            </a:pPr>
            <a:r>
              <a:rPr lang="en-US" sz="1050" dirty="0">
                <a:solidFill>
                  <a:srgbClr val="3A4555"/>
                </a:solidFill>
                <a:latin typeface="Calibri" pitchFamily="34" charset="0"/>
                <a:ea typeface="Calibri" pitchFamily="34" charset="-122"/>
                <a:cs typeface="Calibri" pitchFamily="34" charset="-120"/>
              </a:rPr>
              <a:t>One week of actuals + 3 weeks projected. Under 10%.</a:t>
            </a:r>
            <a:endParaRPr lang="en-US" sz="1200" dirty="0"/>
          </a:p>
          <a:p>
            <a:pPr marL="0" indent="0">
              <a:buNone/>
            </a:pPr>
            <a:endParaRPr lang="en-US" sz="1200" dirty="0"/>
          </a:p>
          <a:p>
            <a:pPr marL="0" indent="0">
              <a:buNone/>
            </a:pPr>
            <a:r>
              <a:rPr lang="en-US" sz="1200" b="1" dirty="0">
                <a:solidFill>
                  <a:srgbClr val="1A2332"/>
                </a:solidFill>
                <a:latin typeface="Calibri" pitchFamily="34" charset="0"/>
                <a:ea typeface="Calibri" pitchFamily="34" charset="-122"/>
                <a:cs typeface="Calibri" pitchFamily="34" charset="-120"/>
              </a:rPr>
              <a:t>Day 15</a:t>
            </a:r>
            <a:endParaRPr lang="en-US" sz="1200" dirty="0"/>
          </a:p>
          <a:p>
            <a:pPr marL="0" indent="0">
              <a:buNone/>
            </a:pPr>
            <a:r>
              <a:rPr lang="en-US" sz="1050" dirty="0">
                <a:solidFill>
                  <a:srgbClr val="3A4555"/>
                </a:solidFill>
                <a:latin typeface="Calibri" pitchFamily="34" charset="0"/>
                <a:ea typeface="Calibri" pitchFamily="34" charset="-122"/>
                <a:cs typeface="Calibri" pitchFamily="34" charset="-120"/>
              </a:rPr>
              <a:t>Half actual, half projected. 4.8% — the headline number.</a:t>
            </a:r>
            <a:endParaRPr lang="en-US" sz="1200" dirty="0"/>
          </a:p>
          <a:p>
            <a:pPr marL="0" indent="0">
              <a:buNone/>
            </a:pPr>
            <a:endParaRPr lang="en-US" sz="1200" dirty="0"/>
          </a:p>
          <a:p>
            <a:pPr marL="0" indent="0">
              <a:buNone/>
            </a:pPr>
            <a:r>
              <a:rPr lang="en-US" sz="1200" b="1" dirty="0">
                <a:solidFill>
                  <a:srgbClr val="1A2332"/>
                </a:solidFill>
                <a:latin typeface="Calibri" pitchFamily="34" charset="0"/>
                <a:ea typeface="Calibri" pitchFamily="34" charset="-122"/>
                <a:cs typeface="Calibri" pitchFamily="34" charset="-120"/>
              </a:rPr>
              <a:t>Day 22</a:t>
            </a:r>
            <a:endParaRPr lang="en-US" sz="1200" dirty="0"/>
          </a:p>
          <a:p>
            <a:pPr marL="0" indent="0">
              <a:buNone/>
            </a:pPr>
            <a:r>
              <a:rPr lang="en-US" sz="1050" dirty="0">
                <a:solidFill>
                  <a:srgbClr val="3A4555"/>
                </a:solidFill>
                <a:latin typeface="Calibri" pitchFamily="34" charset="0"/>
                <a:ea typeface="Calibri" pitchFamily="34" charset="-122"/>
                <a:cs typeface="Calibri" pitchFamily="34" charset="-120"/>
              </a:rPr>
              <a:t>Mostly known. 4.0% error.</a:t>
            </a:r>
            <a:endParaRPr lang="en-US" sz="1200" dirty="0"/>
          </a:p>
          <a:p>
            <a:pPr marL="0" indent="0">
              <a:buNone/>
            </a:pPr>
            <a:endParaRPr lang="en-US" sz="1200" dirty="0"/>
          </a:p>
          <a:p>
            <a:pPr marL="0" indent="0">
              <a:buNone/>
            </a:pPr>
            <a:r>
              <a:rPr lang="en-US" sz="1000" i="1" dirty="0">
                <a:solidFill>
                  <a:srgbClr val="8B95A5"/>
                </a:solidFill>
                <a:latin typeface="Calibri" pitchFamily="34" charset="0"/>
                <a:ea typeface="Calibri" pitchFamily="34" charset="-122"/>
                <a:cs typeface="Calibri" pitchFamily="34" charset="-120"/>
              </a:rPr>
              <a:t>Consistent framework: each month projected from its prior month-end.</a:t>
            </a:r>
            <a:endParaRPr lang="en-US" sz="1200" dirty="0"/>
          </a:p>
        </p:txBody>
      </p:sp>
      <p:sp>
        <p:nvSpPr>
          <p:cNvPr id="8" name="Text 5"/>
          <p:cNvSpPr/>
          <p:nvPr/>
        </p:nvSpPr>
        <p:spPr>
          <a:xfrm>
            <a:off x="457200" y="4754880"/>
            <a:ext cx="3657600" cy="320040"/>
          </a:xfrm>
          <a:prstGeom prst="rect">
            <a:avLst/>
          </a:prstGeom>
          <a:noFill/>
          <a:ln/>
        </p:spPr>
        <p:txBody>
          <a:bodyPr wrap="square" rtlCol="0" anchor="ctr"/>
          <a:lstStyle/>
          <a:p>
            <a:r>
              <a:rPr lang="en-US" sz="900" dirty="0">
                <a:latin typeface="Calibri" pitchFamily="34" charset="0"/>
                <a:ea typeface="Calibri" pitchFamily="34" charset="-122"/>
                <a:cs typeface="Calibri" pitchFamily="34" charset="-120"/>
              </a:rPr>
              <a:t>The University of Chicago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182880"/>
            <a:ext cx="804672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Two Paths Forward</a:t>
            </a:r>
            <a:endParaRPr lang="en-US" sz="2800" dirty="0"/>
          </a:p>
        </p:txBody>
      </p:sp>
      <p:sp>
        <p:nvSpPr>
          <p:cNvPr id="3" name="Shape 1"/>
          <p:cNvSpPr/>
          <p:nvPr/>
        </p:nvSpPr>
        <p:spPr>
          <a:xfrm>
            <a:off x="457200" y="914400"/>
            <a:ext cx="3931920" cy="2926080"/>
          </a:xfrm>
          <a:prstGeom prst="rect">
            <a:avLst/>
          </a:prstGeom>
          <a:solidFill>
            <a:srgbClr val="1E2D42"/>
          </a:solidFill>
          <a:ln/>
        </p:spPr>
        <p:txBody>
          <a:bodyPr/>
          <a:lstStyle/>
          <a:p>
            <a:endParaRPr lang="en-US"/>
          </a:p>
        </p:txBody>
      </p:sp>
      <p:sp>
        <p:nvSpPr>
          <p:cNvPr id="4" name="Shape 2"/>
          <p:cNvSpPr/>
          <p:nvPr/>
        </p:nvSpPr>
        <p:spPr>
          <a:xfrm>
            <a:off x="457200" y="914400"/>
            <a:ext cx="3931920" cy="54864"/>
          </a:xfrm>
          <a:prstGeom prst="rect">
            <a:avLst/>
          </a:prstGeom>
          <a:solidFill>
            <a:srgbClr val="4A90D9"/>
          </a:solidFill>
          <a:ln/>
        </p:spPr>
        <p:txBody>
          <a:bodyPr/>
          <a:lstStyle/>
          <a:p>
            <a:endParaRPr lang="en-US"/>
          </a:p>
        </p:txBody>
      </p:sp>
      <p:sp>
        <p:nvSpPr>
          <p:cNvPr id="5" name="Text 3"/>
          <p:cNvSpPr/>
          <p:nvPr/>
        </p:nvSpPr>
        <p:spPr>
          <a:xfrm>
            <a:off x="640080" y="1051560"/>
            <a:ext cx="3566160" cy="365760"/>
          </a:xfrm>
          <a:prstGeom prst="rect">
            <a:avLst/>
          </a:prstGeom>
          <a:noFill/>
          <a:ln/>
        </p:spPr>
        <p:txBody>
          <a:bodyPr wrap="square" rtlCol="0" anchor="ctr"/>
          <a:lstStyle/>
          <a:p>
            <a:pPr marL="0" indent="0">
              <a:buNone/>
            </a:pPr>
            <a:r>
              <a:rPr lang="en-US" sz="1600" b="1" dirty="0">
                <a:solidFill>
                  <a:srgbClr val="4A90D9"/>
                </a:solidFill>
                <a:latin typeface="Georgia" pitchFamily="34" charset="0"/>
                <a:ea typeface="Georgia" pitchFamily="34" charset="-122"/>
                <a:cs typeface="Georgia" pitchFamily="34" charset="-120"/>
              </a:rPr>
              <a:t>Version A — Conservative</a:t>
            </a:r>
            <a:endParaRPr lang="en-US" sz="1600" dirty="0"/>
          </a:p>
        </p:txBody>
      </p:sp>
      <p:sp>
        <p:nvSpPr>
          <p:cNvPr id="6" name="Text 4"/>
          <p:cNvSpPr/>
          <p:nvPr/>
        </p:nvSpPr>
        <p:spPr>
          <a:xfrm>
            <a:off x="640080" y="1463040"/>
            <a:ext cx="3566160" cy="2194560"/>
          </a:xfrm>
          <a:prstGeom prst="rect">
            <a:avLst/>
          </a:prstGeom>
          <a:noFill/>
          <a:ln/>
        </p:spPr>
        <p:txBody>
          <a:bodyPr wrap="square"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6.5%</a:t>
            </a:r>
            <a:endParaRPr lang="en-US" sz="3600" dirty="0"/>
          </a:p>
          <a:p>
            <a:pPr marL="0" indent="0">
              <a:buNone/>
            </a:pPr>
            <a:r>
              <a:rPr lang="en-US" sz="1100" dirty="0">
                <a:solidFill>
                  <a:srgbClr val="8B95A5"/>
                </a:solidFill>
                <a:latin typeface="Calibri" pitchFamily="34" charset="0"/>
                <a:ea typeface="Calibri" pitchFamily="34" charset="-122"/>
                <a:cs typeface="Calibri" pitchFamily="34" charset="-120"/>
              </a:rPr>
              <a:t>Mid-Month MAPE</a:t>
            </a:r>
            <a:endParaRPr lang="en-US" sz="3600" dirty="0"/>
          </a:p>
          <a:p>
            <a:pPr marL="0" indent="0">
              <a:buNone/>
            </a:pPr>
            <a:endParaRPr lang="en-US" sz="3600" dirty="0"/>
          </a:p>
          <a:p>
            <a:pPr marL="0" indent="0">
              <a:buNone/>
            </a:pPr>
            <a:r>
              <a:rPr lang="en-US" sz="1200" b="1" dirty="0">
                <a:solidFill>
                  <a:srgbClr val="FFFFFF"/>
                </a:solidFill>
                <a:latin typeface="Calibri" pitchFamily="34" charset="0"/>
                <a:ea typeface="Calibri" pitchFamily="34" charset="-122"/>
                <a:cs typeface="Calibri" pitchFamily="34" charset="-120"/>
              </a:rPr>
              <a:t>No lock features</a:t>
            </a:r>
            <a:endParaRPr lang="en-US" sz="3600" dirty="0"/>
          </a:p>
          <a:p>
            <a:pPr marL="0" indent="0">
              <a:buNone/>
            </a:pPr>
            <a:r>
              <a:rPr lang="en-US" sz="1100" dirty="0">
                <a:solidFill>
                  <a:srgbClr val="8B95A5"/>
                </a:solidFill>
                <a:latin typeface="Calibri" pitchFamily="34" charset="0"/>
                <a:ea typeface="Calibri" pitchFamily="34" charset="-122"/>
                <a:cs typeface="Calibri" pitchFamily="34" charset="-120"/>
              </a:rPr>
              <a:t>Clean, defensible, no leakage risk</a:t>
            </a:r>
            <a:endParaRPr lang="en-US" sz="3600" dirty="0"/>
          </a:p>
          <a:p>
            <a:pPr marL="0" indent="0">
              <a:buNone/>
            </a:pPr>
            <a:r>
              <a:rPr lang="en-US" sz="1100" dirty="0">
                <a:solidFill>
                  <a:srgbClr val="8B95A5"/>
                </a:solidFill>
                <a:latin typeface="Calibri" pitchFamily="34" charset="0"/>
                <a:ea typeface="Calibri" pitchFamily="34" charset="-122"/>
                <a:cs typeface="Calibri" pitchFamily="34" charset="-120"/>
              </a:rPr>
              <a:t>Product &amp; purpose now independent</a:t>
            </a:r>
            <a:endParaRPr lang="en-US" sz="3600" dirty="0"/>
          </a:p>
          <a:p>
            <a:pPr marL="0" indent="0">
              <a:buNone/>
            </a:pPr>
            <a:r>
              <a:rPr lang="en-US" sz="1100" dirty="0">
                <a:solidFill>
                  <a:srgbClr val="8B95A5"/>
                </a:solidFill>
                <a:latin typeface="Calibri" pitchFamily="34" charset="0"/>
                <a:ea typeface="Calibri" pitchFamily="34" charset="-122"/>
                <a:cs typeface="Calibri" pitchFamily="34" charset="-120"/>
              </a:rPr>
              <a:t>Rolling window included</a:t>
            </a:r>
            <a:endParaRPr lang="en-US" sz="3600" dirty="0"/>
          </a:p>
        </p:txBody>
      </p:sp>
      <p:sp>
        <p:nvSpPr>
          <p:cNvPr id="7" name="Shape 5"/>
          <p:cNvSpPr/>
          <p:nvPr/>
        </p:nvSpPr>
        <p:spPr>
          <a:xfrm>
            <a:off x="4754880" y="914400"/>
            <a:ext cx="3931920" cy="2926080"/>
          </a:xfrm>
          <a:prstGeom prst="rect">
            <a:avLst/>
          </a:prstGeom>
          <a:solidFill>
            <a:srgbClr val="1E2D42"/>
          </a:solidFill>
          <a:ln/>
        </p:spPr>
        <p:txBody>
          <a:bodyPr/>
          <a:lstStyle/>
          <a:p>
            <a:endParaRPr lang="en-US"/>
          </a:p>
        </p:txBody>
      </p:sp>
      <p:sp>
        <p:nvSpPr>
          <p:cNvPr id="8" name="Shape 6"/>
          <p:cNvSpPr/>
          <p:nvPr/>
        </p:nvSpPr>
        <p:spPr>
          <a:xfrm>
            <a:off x="4754880" y="914400"/>
            <a:ext cx="3931920" cy="54864"/>
          </a:xfrm>
          <a:prstGeom prst="rect">
            <a:avLst/>
          </a:prstGeom>
          <a:solidFill>
            <a:srgbClr val="E8913A"/>
          </a:solidFill>
          <a:ln/>
        </p:spPr>
        <p:txBody>
          <a:bodyPr/>
          <a:lstStyle/>
          <a:p>
            <a:endParaRPr lang="en-US"/>
          </a:p>
        </p:txBody>
      </p:sp>
      <p:sp>
        <p:nvSpPr>
          <p:cNvPr id="9" name="Text 7"/>
          <p:cNvSpPr/>
          <p:nvPr/>
        </p:nvSpPr>
        <p:spPr>
          <a:xfrm>
            <a:off x="4937760" y="1051560"/>
            <a:ext cx="3566160" cy="365760"/>
          </a:xfrm>
          <a:prstGeom prst="rect">
            <a:avLst/>
          </a:prstGeom>
          <a:noFill/>
          <a:ln/>
        </p:spPr>
        <p:txBody>
          <a:bodyPr wrap="square" rtlCol="0" anchor="ctr"/>
          <a:lstStyle/>
          <a:p>
            <a:pPr marL="0" indent="0">
              <a:buNone/>
            </a:pPr>
            <a:r>
              <a:rPr lang="en-US" sz="1600" b="1" dirty="0">
                <a:solidFill>
                  <a:srgbClr val="E8913A"/>
                </a:solidFill>
                <a:latin typeface="Georgia" pitchFamily="34" charset="0"/>
                <a:ea typeface="Georgia" pitchFamily="34" charset="-122"/>
                <a:cs typeface="Georgia" pitchFamily="34" charset="-120"/>
              </a:rPr>
              <a:t>Version B — With Locks</a:t>
            </a:r>
            <a:endParaRPr lang="en-US" sz="1600" dirty="0"/>
          </a:p>
        </p:txBody>
      </p:sp>
      <p:sp>
        <p:nvSpPr>
          <p:cNvPr id="10" name="Text 8"/>
          <p:cNvSpPr/>
          <p:nvPr/>
        </p:nvSpPr>
        <p:spPr>
          <a:xfrm>
            <a:off x="4937760" y="1463040"/>
            <a:ext cx="3566160" cy="2194560"/>
          </a:xfrm>
          <a:prstGeom prst="rect">
            <a:avLst/>
          </a:prstGeom>
          <a:noFill/>
          <a:ln/>
        </p:spPr>
        <p:txBody>
          <a:bodyPr wrap="square" rtlCol="0" anchor="t"/>
          <a:lstStyle/>
          <a:p>
            <a:pPr marL="0" indent="0">
              <a:buNone/>
            </a:pPr>
            <a:r>
              <a:rPr lang="en-US" sz="3600" b="1" dirty="0">
                <a:solidFill>
                  <a:srgbClr val="FFFFFF"/>
                </a:solidFill>
                <a:latin typeface="Calibri" pitchFamily="34" charset="0"/>
                <a:ea typeface="Calibri" pitchFamily="34" charset="-122"/>
                <a:cs typeface="Calibri" pitchFamily="34" charset="-120"/>
              </a:rPr>
              <a:t>4.8%</a:t>
            </a:r>
            <a:endParaRPr lang="en-US" sz="3600" dirty="0"/>
          </a:p>
          <a:p>
            <a:pPr marL="0" indent="0">
              <a:buNone/>
            </a:pPr>
            <a:r>
              <a:rPr lang="en-US" sz="1100" dirty="0">
                <a:solidFill>
                  <a:srgbClr val="8B95A5"/>
                </a:solidFill>
                <a:latin typeface="Calibri" pitchFamily="34" charset="0"/>
                <a:ea typeface="Calibri" pitchFamily="34" charset="-122"/>
                <a:cs typeface="Calibri" pitchFamily="34" charset="-120"/>
              </a:rPr>
              <a:t>Mid-Month MAPE</a:t>
            </a:r>
            <a:endParaRPr lang="en-US" sz="3600" dirty="0"/>
          </a:p>
          <a:p>
            <a:pPr marL="0" indent="0">
              <a:buNone/>
            </a:pPr>
            <a:endParaRPr lang="en-US" sz="3600" dirty="0"/>
          </a:p>
          <a:p>
            <a:pPr marL="0" indent="0">
              <a:buNone/>
            </a:pPr>
            <a:r>
              <a:rPr lang="en-US" sz="1200" b="1" dirty="0">
                <a:solidFill>
                  <a:srgbClr val="FFFFFF"/>
                </a:solidFill>
                <a:latin typeface="Calibri" pitchFamily="34" charset="0"/>
                <a:ea typeface="Calibri" pitchFamily="34" charset="-122"/>
                <a:cs typeface="Calibri" pitchFamily="34" charset="-120"/>
              </a:rPr>
              <a:t>5 lock features included</a:t>
            </a:r>
            <a:endParaRPr lang="en-US" sz="3600" dirty="0"/>
          </a:p>
          <a:p>
            <a:pPr marL="0" indent="0">
              <a:buNone/>
            </a:pPr>
            <a:r>
              <a:rPr lang="en-US" sz="1100" dirty="0">
                <a:solidFill>
                  <a:srgbClr val="8B95A5"/>
                </a:solidFill>
                <a:latin typeface="Calibri" pitchFamily="34" charset="0"/>
                <a:ea typeface="Calibri" pitchFamily="34" charset="-122"/>
                <a:cs typeface="Calibri" pitchFamily="34" charset="-120"/>
              </a:rPr>
              <a:t>68% of model weight on lock timing</a:t>
            </a:r>
            <a:endParaRPr lang="en-US" sz="3600" dirty="0"/>
          </a:p>
          <a:p>
            <a:pPr marL="0" indent="0">
              <a:buNone/>
            </a:pPr>
            <a:r>
              <a:rPr lang="en-US" sz="1100" dirty="0">
                <a:solidFill>
                  <a:srgbClr val="8B95A5"/>
                </a:solidFill>
                <a:latin typeface="Calibri" pitchFamily="34" charset="0"/>
                <a:ea typeface="Calibri" pitchFamily="34" charset="-122"/>
                <a:cs typeface="Calibri" pitchFamily="34" charset="-120"/>
              </a:rPr>
              <a:t>Better accuracy, but lock may encode</a:t>
            </a:r>
            <a:endParaRPr lang="en-US" sz="3600" dirty="0"/>
          </a:p>
          <a:p>
            <a:pPr marL="0" indent="0">
              <a:buNone/>
            </a:pPr>
            <a:r>
              <a:rPr lang="en-US" sz="1100" dirty="0">
                <a:solidFill>
                  <a:srgbClr val="8B95A5"/>
                </a:solidFill>
                <a:latin typeface="Calibri" pitchFamily="34" charset="0"/>
                <a:ea typeface="Calibri" pitchFamily="34" charset="-122"/>
                <a:cs typeface="Calibri" pitchFamily="34" charset="-120"/>
              </a:rPr>
              <a:t>pipeline progression, not new info</a:t>
            </a:r>
            <a:endParaRPr lang="en-US" sz="3600" dirty="0"/>
          </a:p>
        </p:txBody>
      </p:sp>
      <p:sp>
        <p:nvSpPr>
          <p:cNvPr id="11" name="Shape 9"/>
          <p:cNvSpPr/>
          <p:nvPr/>
        </p:nvSpPr>
        <p:spPr>
          <a:xfrm>
            <a:off x="1371600" y="3977640"/>
            <a:ext cx="6400800" cy="640080"/>
          </a:xfrm>
          <a:prstGeom prst="rect">
            <a:avLst/>
          </a:prstGeom>
          <a:solidFill>
            <a:srgbClr val="E8913A">
              <a:alpha val="85000"/>
            </a:srgbClr>
          </a:solidFill>
          <a:ln/>
        </p:spPr>
        <p:txBody>
          <a:bodyPr/>
          <a:lstStyle/>
          <a:p>
            <a:endParaRPr lang="en-US"/>
          </a:p>
        </p:txBody>
      </p:sp>
      <p:sp>
        <p:nvSpPr>
          <p:cNvPr id="12" name="Text 10"/>
          <p:cNvSpPr/>
          <p:nvPr/>
        </p:nvSpPr>
        <p:spPr>
          <a:xfrm>
            <a:off x="1554480" y="3977640"/>
            <a:ext cx="6035040" cy="640080"/>
          </a:xfrm>
          <a:prstGeom prst="rect">
            <a:avLst/>
          </a:prstGeom>
          <a:noFill/>
          <a:ln/>
        </p:spPr>
        <p:txBody>
          <a:bodyPr wrap="square" rtlCol="0" anchor="ctr"/>
          <a:lstStyle/>
          <a:p>
            <a:pPr marL="0" indent="0" algn="ctr">
              <a:buNone/>
            </a:pPr>
            <a:r>
              <a:rPr lang="en-US" sz="1300" i="1" dirty="0">
                <a:solidFill>
                  <a:srgbClr val="FFFFFF"/>
                </a:solidFill>
                <a:latin typeface="Calibri" pitchFamily="34" charset="0"/>
                <a:ea typeface="Calibri" pitchFamily="34" charset="-122"/>
                <a:cs typeface="Calibri" pitchFamily="34" charset="-120"/>
              </a:rPr>
              <a:t>For you, Augie: Is rate lock an independent signal in this business — or is it encoding what the stages already tell us?</a:t>
            </a:r>
            <a:endParaRPr lang="en-US" sz="1300" dirty="0"/>
          </a:p>
        </p:txBody>
      </p:sp>
      <p:sp>
        <p:nvSpPr>
          <p:cNvPr id="13" name="Text 11"/>
          <p:cNvSpPr/>
          <p:nvPr/>
        </p:nvSpPr>
        <p:spPr>
          <a:xfrm>
            <a:off x="457200" y="4754880"/>
            <a:ext cx="8229600" cy="320040"/>
          </a:xfrm>
          <a:prstGeom prst="rect">
            <a:avLst/>
          </a:prstGeom>
          <a:noFill/>
          <a:ln/>
        </p:spPr>
        <p:txBody>
          <a:bodyPr wrap="square" rtlCol="0" anchor="ctr"/>
          <a:lstStyle/>
          <a:p>
            <a:pPr marL="0" indent="0">
              <a:buNone/>
            </a:pPr>
            <a:r>
              <a:rPr lang="en-US" sz="1000" dirty="0">
                <a:solidFill>
                  <a:schemeClr val="bg1"/>
                </a:solidFill>
                <a:latin typeface="Calibri" pitchFamily="34" charset="0"/>
                <a:ea typeface="Calibri" pitchFamily="34" charset="-122"/>
                <a:cs typeface="Calibri" pitchFamily="34" charset="-120"/>
              </a:rPr>
              <a:t>Both versions use rolling window and separated product/purpose</a:t>
            </a:r>
            <a:endParaRPr lang="en-US" sz="10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182880"/>
            <a:ext cx="804672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Next Steps</a:t>
            </a:r>
            <a:endParaRPr lang="en-US" sz="2800" dirty="0"/>
          </a:p>
        </p:txBody>
      </p:sp>
      <p:sp>
        <p:nvSpPr>
          <p:cNvPr id="3" name="Shape 1"/>
          <p:cNvSpPr/>
          <p:nvPr/>
        </p:nvSpPr>
        <p:spPr>
          <a:xfrm>
            <a:off x="731520" y="914400"/>
            <a:ext cx="7680960" cy="731520"/>
          </a:xfrm>
          <a:prstGeom prst="rect">
            <a:avLst/>
          </a:prstGeom>
          <a:solidFill>
            <a:srgbClr val="1E2D42"/>
          </a:solidFill>
          <a:ln/>
        </p:spPr>
        <p:txBody>
          <a:bodyPr/>
          <a:lstStyle/>
          <a:p>
            <a:endParaRPr lang="en-US"/>
          </a:p>
        </p:txBody>
      </p:sp>
      <p:sp>
        <p:nvSpPr>
          <p:cNvPr id="4" name="Shape 2"/>
          <p:cNvSpPr/>
          <p:nvPr/>
        </p:nvSpPr>
        <p:spPr>
          <a:xfrm>
            <a:off x="731520" y="914400"/>
            <a:ext cx="64008" cy="731520"/>
          </a:xfrm>
          <a:prstGeom prst="rect">
            <a:avLst/>
          </a:prstGeom>
          <a:solidFill>
            <a:srgbClr val="E8913A"/>
          </a:solidFill>
          <a:ln/>
        </p:spPr>
        <p:txBody>
          <a:bodyPr/>
          <a:lstStyle/>
          <a:p>
            <a:endParaRPr lang="en-US"/>
          </a:p>
        </p:txBody>
      </p:sp>
      <p:sp>
        <p:nvSpPr>
          <p:cNvPr id="5" name="Text 3"/>
          <p:cNvSpPr/>
          <p:nvPr/>
        </p:nvSpPr>
        <p:spPr>
          <a:xfrm>
            <a:off x="1005840" y="960120"/>
            <a:ext cx="2286000" cy="320040"/>
          </a:xfrm>
          <a:prstGeom prst="rect">
            <a:avLst/>
          </a:prstGeom>
          <a:noFill/>
          <a:ln/>
        </p:spPr>
        <p:txBody>
          <a:bodyPr wrap="square" rtlCol="0" anchor="ctr"/>
          <a:lstStyle/>
          <a:p>
            <a:pPr marL="0" indent="0">
              <a:buNone/>
            </a:pPr>
            <a:r>
              <a:rPr lang="en-US" sz="1400" b="1" dirty="0">
                <a:solidFill>
                  <a:srgbClr val="E8913A"/>
                </a:solidFill>
                <a:latin typeface="Calibri" pitchFamily="34" charset="0"/>
                <a:ea typeface="Calibri" pitchFamily="34" charset="-122"/>
                <a:cs typeface="Calibri" pitchFamily="34" charset="-120"/>
              </a:rPr>
              <a:t>Lock Decision</a:t>
            </a:r>
            <a:endParaRPr lang="en-US" sz="1400" dirty="0"/>
          </a:p>
        </p:txBody>
      </p:sp>
      <p:sp>
        <p:nvSpPr>
          <p:cNvPr id="6" name="Text 4"/>
          <p:cNvSpPr/>
          <p:nvPr/>
        </p:nvSpPr>
        <p:spPr>
          <a:xfrm>
            <a:off x="1005840" y="1261872"/>
            <a:ext cx="7132320" cy="320040"/>
          </a:xfrm>
          <a:prstGeom prst="rect">
            <a:avLst/>
          </a:prstGeom>
          <a:noFill/>
          <a:ln/>
        </p:spPr>
        <p:txBody>
          <a:bodyPr wrap="square" rtlCol="0" anchor="t"/>
          <a:lstStyle/>
          <a:p>
            <a:pPr marL="0" indent="0">
              <a:buNone/>
            </a:pPr>
            <a:r>
              <a:rPr lang="en-US" sz="1100" dirty="0">
                <a:solidFill>
                  <a:srgbClr val="8B95A5"/>
                </a:solidFill>
                <a:latin typeface="Calibri" pitchFamily="34" charset="0"/>
                <a:ea typeface="Calibri" pitchFamily="34" charset="-122"/>
                <a:cs typeface="Calibri" pitchFamily="34" charset="-120"/>
              </a:rPr>
              <a:t>Your call on Version A or B determines which model we move forward with. Rolling window recommended regardless.</a:t>
            </a:r>
            <a:endParaRPr lang="en-US" sz="1100" dirty="0"/>
          </a:p>
        </p:txBody>
      </p:sp>
      <p:sp>
        <p:nvSpPr>
          <p:cNvPr id="7" name="Shape 5"/>
          <p:cNvSpPr/>
          <p:nvPr/>
        </p:nvSpPr>
        <p:spPr>
          <a:xfrm>
            <a:off x="731520" y="1828800"/>
            <a:ext cx="7680960" cy="731520"/>
          </a:xfrm>
          <a:prstGeom prst="rect">
            <a:avLst/>
          </a:prstGeom>
          <a:solidFill>
            <a:srgbClr val="1E2D42"/>
          </a:solidFill>
          <a:ln/>
        </p:spPr>
        <p:txBody>
          <a:bodyPr/>
          <a:lstStyle/>
          <a:p>
            <a:endParaRPr lang="en-US"/>
          </a:p>
        </p:txBody>
      </p:sp>
      <p:sp>
        <p:nvSpPr>
          <p:cNvPr id="8" name="Shape 6"/>
          <p:cNvSpPr/>
          <p:nvPr/>
        </p:nvSpPr>
        <p:spPr>
          <a:xfrm>
            <a:off x="731520" y="1828800"/>
            <a:ext cx="64008" cy="731520"/>
          </a:xfrm>
          <a:prstGeom prst="rect">
            <a:avLst/>
          </a:prstGeom>
          <a:solidFill>
            <a:srgbClr val="3DAA7F"/>
          </a:solidFill>
          <a:ln/>
        </p:spPr>
        <p:txBody>
          <a:bodyPr/>
          <a:lstStyle/>
          <a:p>
            <a:endParaRPr lang="en-US"/>
          </a:p>
        </p:txBody>
      </p:sp>
      <p:sp>
        <p:nvSpPr>
          <p:cNvPr id="9" name="Text 7"/>
          <p:cNvSpPr/>
          <p:nvPr/>
        </p:nvSpPr>
        <p:spPr>
          <a:xfrm>
            <a:off x="1005840" y="1874520"/>
            <a:ext cx="2286000" cy="320040"/>
          </a:xfrm>
          <a:prstGeom prst="rect">
            <a:avLst/>
          </a:prstGeom>
          <a:noFill/>
          <a:ln/>
        </p:spPr>
        <p:txBody>
          <a:bodyPr wrap="square" rtlCol="0" anchor="ctr"/>
          <a:lstStyle/>
          <a:p>
            <a:pPr marL="0" indent="0">
              <a:buNone/>
            </a:pPr>
            <a:r>
              <a:rPr lang="en-US" sz="1400" b="1" dirty="0">
                <a:solidFill>
                  <a:srgbClr val="3DAA7F"/>
                </a:solidFill>
                <a:latin typeface="Calibri" pitchFamily="34" charset="0"/>
                <a:ea typeface="Calibri" pitchFamily="34" charset="-122"/>
                <a:cs typeface="Calibri" pitchFamily="34" charset="-120"/>
              </a:rPr>
              <a:t>Seasonality</a:t>
            </a:r>
            <a:endParaRPr lang="en-US" sz="1400" dirty="0"/>
          </a:p>
        </p:txBody>
      </p:sp>
      <p:sp>
        <p:nvSpPr>
          <p:cNvPr id="10" name="Text 8"/>
          <p:cNvSpPr/>
          <p:nvPr/>
        </p:nvSpPr>
        <p:spPr>
          <a:xfrm>
            <a:off x="1005840" y="2176272"/>
            <a:ext cx="7132320" cy="320040"/>
          </a:xfrm>
          <a:prstGeom prst="rect">
            <a:avLst/>
          </a:prstGeom>
          <a:noFill/>
          <a:ln/>
        </p:spPr>
        <p:txBody>
          <a:bodyPr wrap="square" rtlCol="0" anchor="t"/>
          <a:lstStyle/>
          <a:p>
            <a:pPr marL="0" indent="0">
              <a:buNone/>
            </a:pPr>
            <a:r>
              <a:rPr lang="en-US" sz="1100" dirty="0">
                <a:solidFill>
                  <a:srgbClr val="8B95A5"/>
                </a:solidFill>
                <a:latin typeface="Calibri" pitchFamily="34" charset="0"/>
                <a:ea typeface="Calibri" pitchFamily="34" charset="-122"/>
                <a:cs typeface="Calibri" pitchFamily="34" charset="-120"/>
              </a:rPr>
              <a:t>We looked at it — summer pull-through ~41% vs winter ~36%, volume +25% higher. Speed is flat. Natural next feature to add.</a:t>
            </a:r>
            <a:endParaRPr lang="en-US" sz="1100" dirty="0"/>
          </a:p>
        </p:txBody>
      </p:sp>
      <p:sp>
        <p:nvSpPr>
          <p:cNvPr id="11" name="Shape 9"/>
          <p:cNvSpPr/>
          <p:nvPr/>
        </p:nvSpPr>
        <p:spPr>
          <a:xfrm>
            <a:off x="731520" y="2743200"/>
            <a:ext cx="7680960" cy="731520"/>
          </a:xfrm>
          <a:prstGeom prst="rect">
            <a:avLst/>
          </a:prstGeom>
          <a:solidFill>
            <a:srgbClr val="1E2D42"/>
          </a:solidFill>
          <a:ln/>
        </p:spPr>
        <p:txBody>
          <a:bodyPr/>
          <a:lstStyle/>
          <a:p>
            <a:endParaRPr lang="en-US"/>
          </a:p>
        </p:txBody>
      </p:sp>
      <p:sp>
        <p:nvSpPr>
          <p:cNvPr id="12" name="Shape 10"/>
          <p:cNvSpPr/>
          <p:nvPr/>
        </p:nvSpPr>
        <p:spPr>
          <a:xfrm>
            <a:off x="731520" y="2743200"/>
            <a:ext cx="64008" cy="731520"/>
          </a:xfrm>
          <a:prstGeom prst="rect">
            <a:avLst/>
          </a:prstGeom>
          <a:solidFill>
            <a:srgbClr val="4A90D9"/>
          </a:solidFill>
          <a:ln/>
        </p:spPr>
        <p:txBody>
          <a:bodyPr/>
          <a:lstStyle/>
          <a:p>
            <a:endParaRPr lang="en-US"/>
          </a:p>
        </p:txBody>
      </p:sp>
      <p:sp>
        <p:nvSpPr>
          <p:cNvPr id="13" name="Text 11"/>
          <p:cNvSpPr/>
          <p:nvPr/>
        </p:nvSpPr>
        <p:spPr>
          <a:xfrm>
            <a:off x="1005840" y="2788920"/>
            <a:ext cx="2286000" cy="320040"/>
          </a:xfrm>
          <a:prstGeom prst="rect">
            <a:avLst/>
          </a:prstGeom>
          <a:noFill/>
          <a:ln/>
        </p:spPr>
        <p:txBody>
          <a:bodyPr wrap="square" rtlCol="0" anchor="ctr"/>
          <a:lstStyle/>
          <a:p>
            <a:pPr marL="0" indent="0">
              <a:buNone/>
            </a:pPr>
            <a:r>
              <a:rPr lang="en-US" sz="1400" b="1" dirty="0">
                <a:solidFill>
                  <a:srgbClr val="4A90D9"/>
                </a:solidFill>
                <a:latin typeface="Calibri" pitchFamily="34" charset="0"/>
                <a:ea typeface="Calibri" pitchFamily="34" charset="-122"/>
                <a:cs typeface="Calibri" pitchFamily="34" charset="-120"/>
              </a:rPr>
              <a:t>Error-by-Month Chart</a:t>
            </a:r>
            <a:endParaRPr lang="en-US" sz="1400" dirty="0"/>
          </a:p>
        </p:txBody>
      </p:sp>
      <p:sp>
        <p:nvSpPr>
          <p:cNvPr id="14" name="Text 12"/>
          <p:cNvSpPr/>
          <p:nvPr/>
        </p:nvSpPr>
        <p:spPr>
          <a:xfrm>
            <a:off x="1005840" y="3090672"/>
            <a:ext cx="7132320" cy="320040"/>
          </a:xfrm>
          <a:prstGeom prst="rect">
            <a:avLst/>
          </a:prstGeom>
          <a:noFill/>
          <a:ln/>
        </p:spPr>
        <p:txBody>
          <a:bodyPr wrap="square" rtlCol="0" anchor="t"/>
          <a:lstStyle/>
          <a:p>
            <a:pPr marL="0" indent="0">
              <a:buNone/>
            </a:pPr>
            <a:r>
              <a:rPr lang="en-US" sz="1100" dirty="0">
                <a:solidFill>
                  <a:srgbClr val="8B95A5"/>
                </a:solidFill>
                <a:latin typeface="Calibri" pitchFamily="34" charset="0"/>
                <a:ea typeface="Calibri" pitchFamily="34" charset="-122"/>
                <a:cs typeface="Calibri" pitchFamily="34" charset="-120"/>
              </a:rPr>
              <a:t>Full month-by-month error breakdown available (v1, v2 fixed, v2 rolling). Happy to walk through if useful.</a:t>
            </a:r>
            <a:endParaRPr lang="en-US" sz="1100" dirty="0"/>
          </a:p>
        </p:txBody>
      </p:sp>
      <p:sp>
        <p:nvSpPr>
          <p:cNvPr id="15" name="Shape 13"/>
          <p:cNvSpPr/>
          <p:nvPr/>
        </p:nvSpPr>
        <p:spPr>
          <a:xfrm>
            <a:off x="731520" y="3657600"/>
            <a:ext cx="7680960" cy="731520"/>
          </a:xfrm>
          <a:prstGeom prst="rect">
            <a:avLst/>
          </a:prstGeom>
          <a:solidFill>
            <a:srgbClr val="1E2D42"/>
          </a:solidFill>
          <a:ln/>
        </p:spPr>
        <p:txBody>
          <a:bodyPr/>
          <a:lstStyle/>
          <a:p>
            <a:endParaRPr lang="en-US"/>
          </a:p>
        </p:txBody>
      </p:sp>
      <p:sp>
        <p:nvSpPr>
          <p:cNvPr id="16" name="Shape 14"/>
          <p:cNvSpPr/>
          <p:nvPr/>
        </p:nvSpPr>
        <p:spPr>
          <a:xfrm>
            <a:off x="731520" y="3657600"/>
            <a:ext cx="64008" cy="731520"/>
          </a:xfrm>
          <a:prstGeom prst="rect">
            <a:avLst/>
          </a:prstGeom>
          <a:solidFill>
            <a:srgbClr val="4A90D9"/>
          </a:solidFill>
          <a:ln/>
        </p:spPr>
        <p:txBody>
          <a:bodyPr/>
          <a:lstStyle/>
          <a:p>
            <a:endParaRPr lang="en-US"/>
          </a:p>
        </p:txBody>
      </p:sp>
      <p:sp>
        <p:nvSpPr>
          <p:cNvPr id="17" name="Text 15"/>
          <p:cNvSpPr/>
          <p:nvPr/>
        </p:nvSpPr>
        <p:spPr>
          <a:xfrm>
            <a:off x="1005840" y="3703320"/>
            <a:ext cx="2286000" cy="320040"/>
          </a:xfrm>
          <a:prstGeom prst="rect">
            <a:avLst/>
          </a:prstGeom>
          <a:noFill/>
          <a:ln/>
        </p:spPr>
        <p:txBody>
          <a:bodyPr wrap="square" rtlCol="0" anchor="ctr"/>
          <a:lstStyle/>
          <a:p>
            <a:pPr marL="0" indent="0">
              <a:buNone/>
            </a:pPr>
            <a:r>
              <a:rPr lang="en-US" sz="1400" b="1" dirty="0">
                <a:solidFill>
                  <a:srgbClr val="4A90D9"/>
                </a:solidFill>
                <a:latin typeface="Calibri" pitchFamily="34" charset="0"/>
                <a:ea typeface="Calibri" pitchFamily="34" charset="-122"/>
                <a:cs typeface="Calibri" pitchFamily="34" charset="-120"/>
              </a:rPr>
              <a:t>Integration</a:t>
            </a:r>
            <a:endParaRPr lang="en-US" sz="1400" dirty="0"/>
          </a:p>
        </p:txBody>
      </p:sp>
      <p:sp>
        <p:nvSpPr>
          <p:cNvPr id="18" name="Text 16"/>
          <p:cNvSpPr/>
          <p:nvPr/>
        </p:nvSpPr>
        <p:spPr>
          <a:xfrm>
            <a:off x="1005840" y="4005072"/>
            <a:ext cx="7132320" cy="320040"/>
          </a:xfrm>
          <a:prstGeom prst="rect">
            <a:avLst/>
          </a:prstGeom>
          <a:noFill/>
          <a:ln/>
        </p:spPr>
        <p:txBody>
          <a:bodyPr wrap="square" rtlCol="0" anchor="t"/>
          <a:lstStyle/>
          <a:p>
            <a:pPr marL="0" indent="0">
              <a:buNone/>
            </a:pPr>
            <a:r>
              <a:rPr lang="en-US" sz="1100" dirty="0">
                <a:solidFill>
                  <a:srgbClr val="8B95A5"/>
                </a:solidFill>
                <a:latin typeface="Calibri" pitchFamily="34" charset="0"/>
                <a:ea typeface="Calibri" pitchFamily="34" charset="-122"/>
                <a:cs typeface="Calibri" pitchFamily="34" charset="-120"/>
              </a:rPr>
              <a:t>Scorer module matches ThoughtSpot format. 1–2 week effort to connect to production DB and run daily scoring.</a:t>
            </a:r>
            <a:endParaRPr lang="en-US" sz="1100" dirty="0"/>
          </a:p>
        </p:txBody>
      </p:sp>
      <p:sp>
        <p:nvSpPr>
          <p:cNvPr id="19" name="Text 17"/>
          <p:cNvSpPr/>
          <p:nvPr/>
        </p:nvSpPr>
        <p:spPr>
          <a:xfrm>
            <a:off x="457200" y="4754880"/>
            <a:ext cx="8229600" cy="320040"/>
          </a:xfrm>
          <a:prstGeom prst="rect">
            <a:avLst/>
          </a:prstGeom>
          <a:noFill/>
          <a:ln/>
        </p:spPr>
        <p:txBody>
          <a:bodyPr wrap="square" rtlCol="0" anchor="ctr"/>
          <a:lstStyle/>
          <a:p>
            <a:pPr marL="0" indent="0">
              <a:buNone/>
            </a:pPr>
            <a:r>
              <a:rPr lang="en-US" sz="1000" dirty="0">
                <a:solidFill>
                  <a:schemeClr val="bg1"/>
                </a:solidFill>
                <a:latin typeface="Calibri" pitchFamily="34" charset="0"/>
                <a:ea typeface="Calibri" pitchFamily="34" charset="-122"/>
                <a:cs typeface="Calibri" pitchFamily="34" charset="-120"/>
              </a:rPr>
              <a:t>The University of Chicago|  Liam Harvey &amp; Ajer Sher</a:t>
            </a:r>
            <a:endParaRPr lang="en-US" sz="10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2290</Words>
  <Application>Microsoft Macintosh PowerPoint</Application>
  <PresentationFormat>On-screen Show (16:9)</PresentationFormat>
  <Paragraphs>143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FlexPoint Forecast Model — v2 Update</dc:title>
  <dc:subject>PptxGenJS Presentation</dc:subject>
  <dc:creator>Liam Harvey &amp; Ajer Sher</dc:creator>
  <cp:lastModifiedBy>Liam Harvey</cp:lastModifiedBy>
  <cp:revision>2</cp:revision>
  <dcterms:created xsi:type="dcterms:W3CDTF">2026-02-25T19:06:46Z</dcterms:created>
  <dcterms:modified xsi:type="dcterms:W3CDTF">2026-02-25T19:32:00Z</dcterms:modified>
</cp:coreProperties>
</file>