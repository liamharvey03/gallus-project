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487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FlexPoint Funding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Forecast Model v2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Update — Weekly Standup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Liam Harvey  &amp;  Ajer Sher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Augie Asked For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2743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7680960" cy="71323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54864" cy="71323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51560" y="153619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Sophistication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18288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product type and loan purpose — "I guarantee those will add value"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331720"/>
            <a:ext cx="7680960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2331720"/>
            <a:ext cx="54864" cy="71323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51560" y="240487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Focus, Not Noise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26974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variables with real explanatory power — height matters, food preferences don't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200400"/>
            <a:ext cx="7680960" cy="71323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1520" y="3200400"/>
            <a:ext cx="54864" cy="71323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51560" y="327355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Against Actuals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35661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January from December data. Compare to what actually happened.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4069080"/>
            <a:ext cx="7680960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1520" y="4069080"/>
            <a:ext cx="54864" cy="71323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51560" y="414223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Models, Best Wins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51560" y="44348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multiple approaches, compare predictive power, go with the best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&amp; Purpose Matter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Stratifying by product type and loan purpose shifts funding probabilities by up to 59 percentage points</a:t>
            </a:r>
            <a:endParaRPr lang="en-US" sz="1300" dirty="0"/>
          </a:p>
        </p:txBody>
      </p:sp>
      <p:pic>
        <p:nvPicPr>
          <p:cNvPr id="4" name="Image 0" descr="/home/claude/stage_fund_rates_stratifi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17320"/>
            <a:ext cx="8412480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47091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Approved stage: NONCONFORMING Purchase funds 60% vs Refinance CashOut at 47% — a 13pp gap the old model missed entirely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 Model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2743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0" y="141732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645920" y="1371600"/>
            <a:ext cx="6583680" cy="914400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0" y="144475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the Pipeline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1810512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any date, determine every active loan's current stage, product type, purpose, and how long it's been sitting there.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14400" y="256032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645920" y="2514600"/>
            <a:ext cx="6583680" cy="914400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828800" y="258775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Loan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28800" y="2953512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probability of funding by month-end based on stage, product, purpose, time-at-stage, credit score, and loan characteristics.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14400" y="370332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645920" y="3657600"/>
            <a:ext cx="6583680" cy="914400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828800" y="373075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to Projection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828800" y="4096512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each loan's probability × amount, add what's already funded this month. That's the monthly forecast.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31520" y="47091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checking if someone can dunk: we now measure height AND whether they play basketball — not just counting heads.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Drives the Prediction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from Gradient Boosting model (top 7 of 35 features)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 probability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0" y="1444752"/>
            <a:ext cx="5029200" cy="25603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778240" y="14173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59.5%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6733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loan is in the pipeline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9019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at current stage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0" y="1929384"/>
            <a:ext cx="836791" cy="256032"/>
          </a:xfrm>
          <a:prstGeom prst="rect">
            <a:avLst/>
          </a:prstGeom>
          <a:solidFill>
            <a:srgbClr val="5B9B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85831" y="190195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9.9%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1579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it's been sitting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23865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remaining in month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0" y="2414016"/>
            <a:ext cx="710005" cy="256032"/>
          </a:xfrm>
          <a:prstGeom prst="rect">
            <a:avLst/>
          </a:prstGeom>
          <a:solidFill>
            <a:srgbClr val="7FB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459045" y="238658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26426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left to close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28712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rank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0" y="2898648"/>
            <a:ext cx="507146" cy="256032"/>
          </a:xfrm>
          <a:prstGeom prst="rect">
            <a:avLst/>
          </a:prstGeom>
          <a:solidFill>
            <a:srgbClr val="93C0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56186" y="287121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31272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along (ordinal)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33558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0" y="3383280"/>
            <a:ext cx="295835" cy="256032"/>
          </a:xfrm>
          <a:prstGeom prst="rect">
            <a:avLst/>
          </a:prstGeom>
          <a:solidFill>
            <a:srgbClr val="A8CD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044875" y="335584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3611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 quality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" y="3840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amount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0" y="3867912"/>
            <a:ext cx="295835" cy="256032"/>
          </a:xfrm>
          <a:prstGeom prst="rect">
            <a:avLst/>
          </a:prstGeom>
          <a:solidFill>
            <a:srgbClr val="BDDA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044875" y="384048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" y="409651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of the loan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" y="43251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period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0" y="4352544"/>
            <a:ext cx="253573" cy="256032"/>
          </a:xfrm>
          <a:prstGeom prst="rect">
            <a:avLst/>
          </a:prstGeom>
          <a:solidFill>
            <a:srgbClr val="D2E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002613" y="432511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1520" y="458114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 signal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31520" y="47091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4 features capture 84% of signal. Categoricals (product, purpose, channel) appear small individually because their signal is already embedded in the stage probability through stratification.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Backtest: 24 Months Projected vs Actual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685800"/>
            <a:ext cx="2377440" cy="777240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70408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6.4%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1612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MAPE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(Day 15)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474720" y="685800"/>
            <a:ext cx="2377440" cy="777240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0" y="70408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 / 24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474720" y="11612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Within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Error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217920" y="685800"/>
            <a:ext cx="2377440" cy="777240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17920" y="70408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9.3%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217920" y="11612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MAPE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Days)</a:t>
            </a:r>
            <a:endParaRPr lang="en-US" sz="900" dirty="0"/>
          </a:p>
        </p:txBody>
      </p:sp>
      <p:pic>
        <p:nvPicPr>
          <p:cNvPr id="12" name="Image 0" descr="/home/claude/backtest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554480"/>
            <a:ext cx="8595360" cy="33375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31520" y="47548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2024 data, tested on 2025. Nov–Dec 2025 are outliers (+28%, +16%) — possible year-end seasonal effect worth investigating.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Output: October 2025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as of October 15 — matches the dashboard format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200400" cy="1463040"/>
          </a:xfrm>
          <a:prstGeom prst="rect">
            <a:avLst/>
          </a:prstGeom>
          <a:solidFill>
            <a:srgbClr val="1E2761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$185.3M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Total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$176.0M  |  Error: +5.3%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371600"/>
            <a:ext cx="2103120" cy="685800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97680" y="1417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$74.3M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297680" y="171907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Funded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97680" y="1874520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1–15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0"/>
            <a:ext cx="2103120" cy="685800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83680" y="1417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$111.0M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171907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Remainder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83680" y="1874520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16–31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297680" y="2194560"/>
            <a:ext cx="2103120" cy="685800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297680" y="2240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$5.9M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297680" y="254203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297680" y="2697480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4.3% projected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583680" y="2194560"/>
            <a:ext cx="2103120" cy="685800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83680" y="2240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$179.4M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83680" y="254203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583680" y="2697480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95.7% projected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31520" y="31089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Breakdown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31520" y="3520440"/>
            <a:ext cx="1463040" cy="822960"/>
          </a:xfrm>
          <a:prstGeom prst="rect">
            <a:avLst/>
          </a:prstGeom>
          <a:solidFill>
            <a:srgbClr val="10B981">
              <a:alpha val="88000"/>
            </a:srgbClr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31520" y="35661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$35.7M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1520" y="39776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" y="41605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377440" y="3520440"/>
            <a:ext cx="1463040" cy="822960"/>
          </a:xfrm>
          <a:prstGeom prst="rect">
            <a:avLst/>
          </a:prstGeom>
          <a:solidFill>
            <a:srgbClr val="10B981">
              <a:alpha val="88000"/>
            </a:srgbClr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377440" y="35661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$32.3M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377440" y="39776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377440" y="41605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023360" y="3520440"/>
            <a:ext cx="1463040" cy="822960"/>
          </a:xfrm>
          <a:prstGeom prst="rect">
            <a:avLst/>
          </a:prstGeom>
          <a:solidFill>
            <a:srgbClr val="F59E0B">
              <a:alpha val="88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023360" y="35661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$52M</a:t>
            </a: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023360" y="39776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023360" y="41605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669280" y="3520440"/>
            <a:ext cx="1463040" cy="822960"/>
          </a:xfrm>
          <a:prstGeom prst="rect">
            <a:avLst/>
          </a:prstGeom>
          <a:solidFill>
            <a:srgbClr val="3B82F6">
              <a:alpha val="88000"/>
            </a:srgbClr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669280" y="35661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$45.7M</a:t>
            </a: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669280" y="39776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669280" y="41605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Projected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315200" y="3520440"/>
            <a:ext cx="1463040" cy="822960"/>
          </a:xfrm>
          <a:prstGeom prst="rect">
            <a:avLst/>
          </a:prstGeom>
          <a:solidFill>
            <a:srgbClr val="3B82F6">
              <a:alpha val="88000"/>
            </a:srgbClr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315200" y="35661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$19.6</a:t>
            </a: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7315200" y="39776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315200" y="41605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Projected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31520" y="4617720"/>
            <a:ext cx="182880" cy="137160"/>
          </a:xfrm>
          <a:prstGeom prst="rect">
            <a:avLst/>
          </a:prstGeom>
          <a:solidFill>
            <a:srgbClr val="10B981">
              <a:alpha val="88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960120" y="45902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645920" y="4617720"/>
            <a:ext cx="182880" cy="137160"/>
          </a:xfrm>
          <a:prstGeom prst="rect">
            <a:avLst/>
          </a:prstGeom>
          <a:solidFill>
            <a:srgbClr val="3B82F6">
              <a:alpha val="88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874520" y="45902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31520" y="484632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1,285 active loans | $604.6M total pipeline value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6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Questions &amp; Next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353312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353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129844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Lock Status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1627632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 fund rate when locked vs 0.6% when not. Is this a leading signal or does it reflect the outcome? Need your input on whether it's knowable at prediction time.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67712"/>
            <a:ext cx="411480" cy="41148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2267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221284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Nov–Dec Anomaly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54480" y="2542032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months over-projected by 15–28%. Is there a year-end seasonal effect (holidays, budget cycles) the model should learn?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3182112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3182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312724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Improvement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54480" y="3456432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is overconfident in the 30–80% probability range. Platt scaling or isotonic regression would tighten this — straightforward next step.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" y="4096512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4096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◆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404164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Path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54480" y="4370832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 outputs match the ThoughtSpot dashboard format. Next: connect to the live database for daily pipeline scoring.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632</Words>
  <Application>Microsoft Macintosh PowerPoint</Application>
  <PresentationFormat>On-screen Show (16:9)</PresentationFormat>
  <Paragraphs>120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FlexPoint Funding Forecast Model v2</dc:title>
  <dc:subject>PptxGenJS Presentation</dc:subject>
  <dc:creator>Liam Harvey &amp; Ajer Sher</dc:creator>
  <cp:lastModifiedBy>Liam Harvey</cp:lastModifiedBy>
  <cp:revision>2</cp:revision>
  <dcterms:created xsi:type="dcterms:W3CDTF">2026-02-18T16:50:03Z</dcterms:created>
  <dcterms:modified xsi:type="dcterms:W3CDTF">2026-02-18T22:02:03Z</dcterms:modified>
</cp:coreProperties>
</file>